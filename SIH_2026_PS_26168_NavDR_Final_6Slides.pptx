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font" Target="fonts/Garamond-regular.fntdata"/><Relationship Id="rId14" Type="http://schemas.openxmlformats.org/officeDocument/2006/relationships/font" Target="fonts/Garamond-bold.fntdata"/><Relationship Id="rId15" Type="http://schemas.openxmlformats.org/officeDocument/2006/relationships/font" Target="fonts/Garamond-italic.fntdata"/><Relationship Id="rId16" Type="http://schemas.openxmlformats.org/officeDocument/2006/relationships/font" Target="fonts/Garamond-boldItalic.fntdata"/><Relationship Id="rId17" Type="http://schemas.openxmlformats.org/officeDocument/2006/relationships/font" Target="fonts/Oswald-regular.fntdata"/><Relationship Id="rId18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>
            <p:ph type="ctrTitle"/>
          </p:nvPr>
        </p:nvSpPr>
        <p:spPr>
          <a:xfrm>
            <a:off x="2773050" y="298625"/>
            <a:ext cx="65520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TEKATHON-5.0- </a:t>
            </a: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079425" y="2076450"/>
            <a:ext cx="5924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  <a:defRPr sz="2200" b="1">
                <a:solidFill>
                  <a:srgbClr val="1F3A5F"/>
                </a:solidFill>
                <a:latin typeface="Arial"/>
              </a:defRPr>
            </a:pPr>
            <a:r>
              <a:t>Problem Statement ID – 26168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1800"/>
              </a:spcAft>
              <a:defRPr sz="2600" b="1">
                <a:solidFill>
                  <a:srgbClr val="222222"/>
                </a:solidFill>
                <a:latin typeface="Arial"/>
              </a:defRPr>
            </a:pPr>
            <a:r>
              <a:t>AI-ML based Intelligent Dead Reckoning system for seamless navigation</a:t>
            </a:r>
          </a:p>
          <a:p>
            <a:pPr>
              <a:spcAft>
                <a:spcPts val="600"/>
              </a:spcAft>
              <a:defRPr sz="1500" b="1">
                <a:solidFill>
                  <a:srgbClr val="555555"/>
                </a:solidFill>
                <a:latin typeface="Arial"/>
              </a:defRPr>
            </a:pPr>
            <a:r>
              <a:t>Theme – Miscellaneous   •   PS Category – Software</a:t>
            </a:r>
          </a:p>
          <a:p>
            <a:pPr>
              <a:spcAft>
                <a:spcPts val="0"/>
              </a:spcAft>
              <a:defRPr sz="1500" b="1">
                <a:solidFill>
                  <a:srgbClr val="555555"/>
                </a:solidFill>
                <a:latin typeface="Arial"/>
              </a:defRPr>
            </a:pPr>
            <a:r>
              <a:t>Organization – ISRO</a:t>
            </a: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Rounded Rectangle 93"/>
          <p:cNvSpPr/>
          <p:nvPr/>
        </p:nvSpPr>
        <p:spPr>
          <a:xfrm>
            <a:off x="1078992" y="5623560"/>
            <a:ext cx="3566160" cy="50292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CC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defRPr sz="1400" b="1">
                <a:solidFill>
                  <a:srgbClr val="1F5C9E"/>
                </a:solidFill>
              </a:defRPr>
            </a:pPr>
            <a:r>
              <a:t>NavDR  |  Neural-Augmented 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40080" y="1188720"/>
            <a:ext cx="10881360" cy="1874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sz="2000" b="1">
                <a:solidFill>
                  <a:srgbClr val="1565C0"/>
                </a:solidFill>
                <a:latin typeface="Arial"/>
              </a:rPr>
              <a:t>NavDR — AI-ML Intelligent Dead Reckoning for Seamless Navigation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200" b="1">
                <a:solidFill>
                  <a:srgbClr val="E65100"/>
                </a:solidFill>
                <a:latin typeface="Arial"/>
              </a:rPr>
              <a:t>PROBLEM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212121"/>
                </a:solidFill>
                <a:latin typeface="Arial"/>
              </a:rPr>
              <a:t>• GNSS fails in tunnels, parking garages and urban canyons → navigation freezes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212121"/>
                </a:solidFill>
                <a:latin typeface="Arial"/>
              </a:rPr>
              <a:t>• Pure IMU integration accumulates drift rapidly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200" b="1">
                <a:solidFill>
                  <a:srgbClr val="00695C"/>
                </a:solidFill>
                <a:latin typeface="Arial"/>
              </a:rPr>
              <a:t>SOLUTION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212121"/>
                </a:solidFill>
                <a:latin typeface="Arial"/>
              </a:rPr>
              <a:t>• TCN learns forward velocity from phone IMU → ESKF fuses motion → HMM constrains to OSM roads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1">
                <a:solidFill>
                  <a:srgbClr val="1565C0"/>
                </a:solidFill>
                <a:latin typeface="Arial"/>
              </a:rPr>
              <a:t>• Target: &lt;10% drift during GNSS denial  •  IO-VNBD benchmark + Indian-road validation</a:t>
            </a:r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SIH 2026 | PS 26168 - NavDR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Rounded Rectangle 105"/>
          <p:cNvSpPr/>
          <p:nvPr/>
        </p:nvSpPr>
        <p:spPr>
          <a:xfrm>
            <a:off x="502920" y="3246120"/>
            <a:ext cx="3474720" cy="4114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NAVIC-AWARE HANDOFF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02920" y="3657600"/>
            <a:ext cx="347472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NavIC-aware GNSS monitoring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C/N₀ degradation helps flag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obstruction / signal loss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Proactive transition before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generic outage thresholds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160520" y="3246120"/>
            <a:ext cx="3474720" cy="411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INTEGRITY MONITORING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160520" y="3657600"/>
            <a:ext cx="347472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Confidence ring from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ESKF covariance 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Radius reflects estimated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position uncertainty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Raw GNSS vs AI-DR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side-by-side demo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818120" y="3246120"/>
            <a:ext cx="3474720" cy="41148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BAROMETRIC DETECTION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818120" y="3657600"/>
            <a:ext cx="3474720" cy="1280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Pressure-rate tunnel detector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+ altitude constraint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Feature-flagged fallback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when barometer is absent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Stretch feature — not core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75488" y="5120640"/>
            <a:ext cx="1572768" cy="5486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Phone IMU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100 Hz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2057400" y="5303520"/>
            <a:ext cx="164592" cy="18288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2231136" y="5120640"/>
            <a:ext cx="1572768" cy="54864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Gravity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Alignment</a:t>
            </a:r>
          </a:p>
        </p:txBody>
      </p:sp>
      <p:sp>
        <p:nvSpPr>
          <p:cNvPr id="115" name="Right Arrow 114"/>
          <p:cNvSpPr/>
          <p:nvPr/>
        </p:nvSpPr>
        <p:spPr>
          <a:xfrm>
            <a:off x="3813048" y="5303520"/>
            <a:ext cx="164592" cy="18288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3986784" y="5120640"/>
            <a:ext cx="1572768" cy="5486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TCN Speed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~50K params</a:t>
            </a:r>
          </a:p>
        </p:txBody>
      </p:sp>
      <p:sp>
        <p:nvSpPr>
          <p:cNvPr id="117" name="Right Arrow 116"/>
          <p:cNvSpPr/>
          <p:nvPr/>
        </p:nvSpPr>
        <p:spPr>
          <a:xfrm>
            <a:off x="5568696" y="5303520"/>
            <a:ext cx="164592" cy="18288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5742432" y="5120640"/>
            <a:ext cx="1572768" cy="54864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ESKF+NHC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15-state</a:t>
            </a:r>
          </a:p>
        </p:txBody>
      </p:sp>
      <p:sp>
        <p:nvSpPr>
          <p:cNvPr id="119" name="Right Arrow 118"/>
          <p:cNvSpPr/>
          <p:nvPr/>
        </p:nvSpPr>
        <p:spPr>
          <a:xfrm>
            <a:off x="7324344" y="5303520"/>
            <a:ext cx="164592" cy="18288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7498079" y="5120640"/>
            <a:ext cx="1572768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Map Match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HMM/Viterbi</a:t>
            </a:r>
          </a:p>
        </p:txBody>
      </p:sp>
      <p:sp>
        <p:nvSpPr>
          <p:cNvPr id="121" name="Right Arrow 120"/>
          <p:cNvSpPr/>
          <p:nvPr/>
        </p:nvSpPr>
        <p:spPr>
          <a:xfrm>
            <a:off x="9079992" y="5303520"/>
            <a:ext cx="164592" cy="18288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9253728" y="5120640"/>
            <a:ext cx="1572768" cy="5486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&lt;10% drift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40080" y="114300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200"/>
              </a:spcBef>
              <a:spcAft>
                <a:spcPts val="10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sz="1300" b="1">
                <a:solidFill>
                  <a:srgbClr val="212121"/>
                </a:solidFill>
                <a:latin typeface="Arial"/>
              </a:rPr>
              <a:t>Python • PyTorch/ONNX Runtime • Android Kotlin • OSMDroid • Valhalla Meili • IO-VNBD</a:t>
            </a:r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4636000" y="6492891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SIH 2026 | PS 26168 - NavDR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SIH 2026 | PS 26168 - NavDR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Rounded Rectangle 119"/>
          <p:cNvSpPr/>
          <p:nvPr/>
        </p:nvSpPr>
        <p:spPr>
          <a:xfrm>
            <a:off x="411480" y="2011680"/>
            <a:ext cx="1920240" cy="10058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Phone IMU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Acc + Gyro @ 100 Hz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Raw MEMS data</a:t>
            </a:r>
          </a:p>
        </p:txBody>
      </p:sp>
      <p:sp>
        <p:nvSpPr>
          <p:cNvPr id="121" name="Right Arrow 120"/>
          <p:cNvSpPr/>
          <p:nvPr/>
        </p:nvSpPr>
        <p:spPr>
          <a:xfrm>
            <a:off x="2350008" y="2423160"/>
            <a:ext cx="164592" cy="201168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2532888" y="2011680"/>
            <a:ext cx="1920240" cy="100584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Auto-Alignment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Gravity-based phone →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vehicle frame rotation</a:t>
            </a:r>
          </a:p>
        </p:txBody>
      </p:sp>
      <p:sp>
        <p:nvSpPr>
          <p:cNvPr id="123" name="Right Arrow 122"/>
          <p:cNvSpPr/>
          <p:nvPr/>
        </p:nvSpPr>
        <p:spPr>
          <a:xfrm>
            <a:off x="4471416" y="2423160"/>
            <a:ext cx="164592" cy="201168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4654296" y="2011680"/>
            <a:ext cx="1920240" cy="10058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TCN / 1D-CNN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Forward velocity regression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~50K params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6592824" y="2423160"/>
            <a:ext cx="164592" cy="201168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6775704" y="2011680"/>
            <a:ext cx="1920240" cy="1005840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ESKF + NHC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15-state sensor fusion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Position, velocity, biases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8714232" y="2423160"/>
            <a:ext cx="164592" cy="201168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8897112" y="2011680"/>
            <a:ext cx="1920240" cy="10058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HMM Map Match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Viterbi on offline OSM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Road-network constraint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547104" y="3200400"/>
            <a:ext cx="2377440" cy="5943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NavIC GNSS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Proactive blackout trigger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Android GnssStatus API</a:t>
            </a:r>
          </a:p>
        </p:txBody>
      </p:sp>
      <p:sp>
        <p:nvSpPr>
          <p:cNvPr id="130" name="Up Arrow 129"/>
          <p:cNvSpPr/>
          <p:nvPr/>
        </p:nvSpPr>
        <p:spPr>
          <a:xfrm>
            <a:off x="7626096" y="3017520"/>
            <a:ext cx="219456" cy="182880"/>
          </a:xfrm>
          <a:prstGeom prst="upArrow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457200" y="4023360"/>
            <a:ext cx="3474720" cy="32004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NAVIC ADVANTAGE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57200" y="4343400"/>
            <a:ext cx="3474720" cy="685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NavIC-aware outage signal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C/N₀ trends support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proactive GNSS handoff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041648" y="4023360"/>
            <a:ext cx="3474720" cy="3200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PRIOR WORK GAP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041648" y="4343400"/>
            <a:ext cx="3474720" cy="685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Vehicular smartphone DR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exists in literature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NavDR targets 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unmodified Android phone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626096" y="4023360"/>
            <a:ext cx="3474720" cy="3200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DOMAIN ADAPTATION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7626096" y="4343400"/>
            <a:ext cx="3474720" cy="685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Mounting-invariant inputs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Supplementary Indian-road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validation closes domain gap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726679" y="5212080"/>
            <a:ext cx="3657600" cy="5029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Arial"/>
              </a:rPr>
              <a:t>Confidence ring: radius ∝ √(Pxx + Pyy)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2121"/>
                </a:solidFill>
                <a:latin typeface="Arial"/>
              </a:rPr>
              <a:t>ESKF covariance drives uncertainty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sz="1400" b="1">
                <a:solidFill>
                  <a:srgbClr val="212121"/>
                </a:solidFill>
                <a:latin typeface="Arial"/>
              </a:rPr>
              <a:t>Real risks, concrete mitigations</a:t>
            </a:r>
          </a:p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SIH 2026 | PS 26168 - NavDR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SIH 2026 | PS 26168 - NavDR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Rounded Rectangle 133"/>
          <p:cNvSpPr/>
          <p:nvPr/>
        </p:nvSpPr>
        <p:spPr>
          <a:xfrm>
            <a:off x="502920" y="1755648"/>
            <a:ext cx="4983480" cy="347472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989320" y="1755648"/>
            <a:ext cx="5577840" cy="34747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MITIGATION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02920" y="2167128"/>
            <a:ext cx="4983480" cy="7772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Android Doze mode can reduce IMU sampling</a:t>
            </a:r>
          </a:p>
        </p:txBody>
      </p:sp>
      <p:sp>
        <p:nvSpPr>
          <p:cNvPr id="137" name="Right Arrow 136"/>
          <p:cNvSpPr/>
          <p:nvPr/>
        </p:nvSpPr>
        <p:spPr>
          <a:xfrm>
            <a:off x="5532120" y="2423160"/>
            <a:ext cx="320040" cy="256032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5989320" y="2167128"/>
            <a:ext cx="5577840" cy="777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Foreground Service + partial WakeLock; verify sustained 100 Hz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02920" y="2990088"/>
            <a:ext cx="4983480" cy="7772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Phone shifts / rotates on mount</a:t>
            </a:r>
          </a:p>
        </p:txBody>
      </p:sp>
      <p:sp>
        <p:nvSpPr>
          <p:cNvPr id="140" name="Right Arrow 139"/>
          <p:cNvSpPr/>
          <p:nvPr/>
        </p:nvSpPr>
        <p:spPr>
          <a:xfrm>
            <a:off x="5532120" y="3246120"/>
            <a:ext cx="320040" cy="256032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5989320" y="2990088"/>
            <a:ext cx="5577840" cy="777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Monitor alignment; recompute phone→vehicle rotation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02920" y="3813048"/>
            <a:ext cx="4983480" cy="7772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IO-VNBD roads differ from India</a:t>
            </a:r>
          </a:p>
        </p:txBody>
      </p:sp>
      <p:sp>
        <p:nvSpPr>
          <p:cNvPr id="143" name="Right Arrow 142"/>
          <p:cNvSpPr/>
          <p:nvPr/>
        </p:nvSpPr>
        <p:spPr>
          <a:xfrm>
            <a:off x="5532120" y="4069080"/>
            <a:ext cx="320040" cy="256032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5989320" y="3813048"/>
            <a:ext cx="5577840" cy="777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Indian test-drive validation + augmentation / transfer learning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02920" y="4636008"/>
            <a:ext cx="4983480" cy="7772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GNSS multipath gives a wrong but confident fix</a:t>
            </a:r>
          </a:p>
        </p:txBody>
      </p:sp>
      <p:sp>
        <p:nvSpPr>
          <p:cNvPr id="146" name="Right Arrow 145"/>
          <p:cNvSpPr/>
          <p:nvPr/>
        </p:nvSpPr>
        <p:spPr>
          <a:xfrm>
            <a:off x="5532120" y="4892040"/>
            <a:ext cx="320040" cy="256032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989320" y="4636008"/>
            <a:ext cx="5577840" cy="777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Innovation / chi-square gating rejects inconsistent updates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02920" y="5458968"/>
            <a:ext cx="4983480" cy="7772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ESKF math is the critical-path risk</a:t>
            </a:r>
          </a:p>
        </p:txBody>
      </p:sp>
      <p:sp>
        <p:nvSpPr>
          <p:cNvPr id="149" name="Right Arrow 148"/>
          <p:cNvSpPr/>
          <p:nvPr/>
        </p:nvSpPr>
        <p:spPr>
          <a:xfrm>
            <a:off x="5532120" y="5715000"/>
            <a:ext cx="320040" cy="256032"/>
          </a:xfrm>
          <a:prstGeom prst="rightArrow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5989320" y="5458968"/>
            <a:ext cx="5577840" cy="7772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Adapt open-source ESKF; fallback to simpler 2D KF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sz="1500" b="1">
                <a:solidFill>
                  <a:srgbClr val="1565C0"/>
                </a:solidFill>
                <a:latin typeface="Arial"/>
              </a:rPr>
              <a:t>Smartphone-first dead reckoning — zero dedicated vehicle hardware</a:t>
            </a:r>
          </a:p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SIH 2026 | PS 26168 - NavDR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SIH 2026 | PS 26168 - NavDR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Rounded Rectangle 147"/>
          <p:cNvSpPr/>
          <p:nvPr/>
        </p:nvSpPr>
        <p:spPr>
          <a:xfrm>
            <a:off x="365760" y="1828800"/>
            <a:ext cx="2651760" cy="43891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SAFETY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65760" y="2267712"/>
            <a:ext cx="2651760" cy="212140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Continuous navigation through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tunnels &amp; underpasses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Emergency vehicles retain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route awareness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136391" y="1828800"/>
            <a:ext cx="2651760" cy="438912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STRATEGIC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136391" y="2267712"/>
            <a:ext cx="2651760" cy="212140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NavIC-aware GNSS handoff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Builds resilience around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India's own navigation system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907024" y="1828800"/>
            <a:ext cx="2651760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907024" y="2267712"/>
            <a:ext cx="2651760" cy="212140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₹0 dedicated hardware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Scales through software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deployment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677656" y="1828800"/>
            <a:ext cx="2651760" cy="438912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677656" y="2267712"/>
            <a:ext cx="2651760" cy="212140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Budget-phone friendly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Useful for delivery, taxi,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logistics and personal nav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65760" y="4572000"/>
            <a:ext cx="3520440" cy="43891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Target: &lt;10% positional drift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977639" y="4572000"/>
            <a:ext cx="3520440" cy="438912"/>
          </a:xfrm>
          <a:prstGeom prst="round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On-device inference: low latency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589520" y="4572000"/>
            <a:ext cx="3520440" cy="43891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No OBD-II / dedicated hardware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65760" y="5166360"/>
            <a:ext cx="5394960" cy="5486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USE CASES: highway tunnels • multi-level parking 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urban canyons • forest roads • GNSS-denied zones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897880" y="5166360"/>
            <a:ext cx="5212080" cy="548640"/>
          </a:xfrm>
          <a:prstGeom prst="roundRect">
            <a:avLst/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USERS: emergency responders • logistics fleets 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12121"/>
                </a:solidFill>
                <a:latin typeface="Arial"/>
              </a:rPr>
              <a:t>ride-hailing • delivery • personal navigation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>
            <p:ph type="title"/>
          </p:nvPr>
        </p:nvSpPr>
        <p:spPr>
          <a:xfrm>
            <a:off x="763800" y="-2761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40080" y="1234440"/>
            <a:ext cx="1088136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sz="1300" b="1">
                <a:solidFill>
                  <a:srgbClr val="1565C0"/>
                </a:solidFill>
                <a:latin typeface="Arial"/>
              </a:rPr>
              <a:t>Research basis and reference 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[1] Onyekpe et al. — IO-VNBD benchmark dataset. Data in Brief (2021). DOI: 10.1016/j.dib.2021.106885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[2] Brossard et al. — AI-IMU Dead-Reckoning. IEEE T-IV (2020). DOI: 10.1109/TIV.2020.2980758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[3] Sirikonda et al. — Tightly Coupled NavIC + Low-Cost Sensors. IEEE Sensors J. (2024). DOI: 10.1109/JSEN.2024.3367927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[4] Jayanth et al. — EqNIO: Subequivariant Neural Inertial Odometry. ICLR (2025).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[5] Onyekpe et al. — R-WhONet: Transfer Learning for Vehicular Positioning. NCA (2025). DOI: 10.1007/s00521-024-10046-z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[6] Valhalla — Meili HMM Map Matching engine. Open-source implementation.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[7] Android GnssStatus / raw GNSS APIs — on-device GNSS signal monitoring.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12121"/>
                </a:solidFill>
                <a:latin typeface="Arial"/>
              </a:rPr>
              <a:t>[8] Groves / Solà — integrated navigation and error-state Kalman filter foundations.</a:t>
            </a:r>
          </a:p>
        </p:txBody>
      </p:sp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SIH 2026 | PS 26168 - NavDR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SIH 2026 | PS 26168 - NavDR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prelim_note"/>
          <p:cNvSpPr txBox="1"/>
          <p:nvPr/>
        </p:nvSpPr>
        <p:spPr>
          <a:xfrm>
            <a:off x="457200" y="36118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1">
                <a:solidFill>
                  <a:srgbClr val="993300"/>
                </a:solidFill>
              </a:defRPr>
            </a:pPr>
            <a:r>
              <a:t>Preliminary result (simulated baseline — to be replaced with an IO-VNBD-trained result per PS requirement):</a:t>
            </a:r>
          </a:p>
        </p:txBody>
      </p:sp>
      <p:pic>
        <p:nvPicPr>
          <p:cNvPr id="163" name="prelim_chart_pic" descr="drift_comp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6960" y="3886200"/>
            <a:ext cx="7498079" cy="2181259"/>
          </a:xfrm>
          <a:prstGeom prst="rect">
            <a:avLst/>
          </a:prstGeom>
        </p:spPr>
      </p:pic>
      <p:sp>
        <p:nvSpPr>
          <p:cNvPr id="164" name="prelim_stats"/>
          <p:cNvSpPr txBox="1"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5C9E"/>
                </a:solidFill>
              </a:defRPr>
            </a:pPr>
            <a:r>
              <a:t>Naive strapdown DR: 85.7% drift over 60s   |   NHC-constrained (proxy): 7.5% drift — meets SIH &lt;10% 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