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8c797cedcf4699" /><Relationship Type="http://schemas.openxmlformats.org/officeDocument/2006/relationships/extended-properties" Target="/docProps/app.xml" Id="Rbb0dcfe6d3a24b7c" /><Relationship Type="http://schemas.openxmlformats.org/officeDocument/2006/relationships/officeDocument" Target="/ppt/presentation.xml" Id="Rb97914fcec8f4227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cedefa19d3a84748"/>
  </p:sldMasterIdLst>
  <p:notesMasterIdLst>
    <p:notesMasterId xmlns:r="http://schemas.openxmlformats.org/officeDocument/2006/relationships" r:id="R178a2cdab54b4dfd"/>
  </p:notesMasterIdLst>
  <p:sldIdLst>
    <p:sldId xmlns:r="http://schemas.openxmlformats.org/officeDocument/2006/relationships" id="256" r:id="Rbbb954f4fe5b4461"/>
    <p:sldId xmlns:r="http://schemas.openxmlformats.org/officeDocument/2006/relationships" id="257" r:id="R60144ab0a72048c3"/>
    <p:sldId xmlns:r="http://schemas.openxmlformats.org/officeDocument/2006/relationships" id="258" r:id="R63f0218b64c344c6"/>
    <p:sldId xmlns:r="http://schemas.openxmlformats.org/officeDocument/2006/relationships" id="259" r:id="R223a38c46c3a45f6"/>
    <p:sldId xmlns:r="http://schemas.openxmlformats.org/officeDocument/2006/relationships" id="260" r:id="R0185367a070d4035"/>
    <p:sldId xmlns:r="http://schemas.openxmlformats.org/officeDocument/2006/relationships" id="261" r:id="Rf1a2e197d67c4938"/>
  </p:sldIdLst>
  <p:sldSz cx="12192000" cy="6858000"/>
  <p:notesSz cx="6858000" cy="9144000"/>
  <p:embeddedFontLst>
    <p:embeddedFont>
      <p:font typeface="Garamond"/>
      <p:regular xmlns:r="http://schemas.openxmlformats.org/officeDocument/2006/relationships" r:id="Re916a0247e7b45b0"/>
      <p:bold xmlns:r="http://schemas.openxmlformats.org/officeDocument/2006/relationships" r:id="R127ffa98ed264f8a"/>
      <p:italic xmlns:r="http://schemas.openxmlformats.org/officeDocument/2006/relationships" r:id="R515576b11f8e453a"/>
      <p:boldItalic xmlns:r="http://schemas.openxmlformats.org/officeDocument/2006/relationships" r:id="Raba00766f6394214"/>
    </p:embeddedFont>
    <p:embeddedFont>
      <p:font typeface="Oswald"/>
      <p:regular xmlns:r="http://schemas.openxmlformats.org/officeDocument/2006/relationships" r:id="R819fd215c25548a7"/>
      <p:bold xmlns:r="http://schemas.openxmlformats.org/officeDocument/2006/relationships" r:id="R40a998618b7b4ad0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2ef1da8999471c" /><Relationship Type="http://schemas.openxmlformats.org/officeDocument/2006/relationships/slideMaster" Target="/ppt/slideMasters/slideMaster1.xml" Id="Rcedefa19d3a84748" /><Relationship Type="http://schemas.openxmlformats.org/officeDocument/2006/relationships/notesMaster" Target="/ppt/notesMasters/notesMaster1.xml" Id="R178a2cdab54b4dfd" /><Relationship Type="http://schemas.openxmlformats.org/officeDocument/2006/relationships/presProps" Target="/ppt/presProps.xml" Id="R067cd7234ec443bb" /><Relationship Type="http://schemas.openxmlformats.org/officeDocument/2006/relationships/viewProps" Target="/ppt/viewProps.xml" Id="R4907f46a1a6a40a7" /><Relationship Type="http://schemas.openxmlformats.org/officeDocument/2006/relationships/tableStyles" Target="/ppt/tableStyles.xml" Id="Rf8d02518635c450a" /><Relationship Type="http://schemas.openxmlformats.org/officeDocument/2006/relationships/font" Target="/ppt/fonts/font.dat" Id="Re916a0247e7b45b0" /><Relationship Type="http://schemas.openxmlformats.org/officeDocument/2006/relationships/font" Target="/ppt/fonts/font2.dat" Id="R127ffa98ed264f8a" /><Relationship Type="http://schemas.openxmlformats.org/officeDocument/2006/relationships/font" Target="/ppt/fonts/font3.dat" Id="R515576b11f8e453a" /><Relationship Type="http://schemas.openxmlformats.org/officeDocument/2006/relationships/font" Target="/ppt/fonts/font4.dat" Id="Raba00766f6394214" /><Relationship Type="http://schemas.openxmlformats.org/officeDocument/2006/relationships/font" Target="/ppt/fonts/font5.dat" Id="R819fd215c25548a7" /><Relationship Type="http://schemas.openxmlformats.org/officeDocument/2006/relationships/font" Target="/ppt/fonts/font6.dat" Id="R40a998618b7b4ad0" /><Relationship Type="http://schemas.openxmlformats.org/officeDocument/2006/relationships/slide" Target="/ppt/slides/slide1.xml" Id="Rbbb954f4fe5b4461" /><Relationship Type="http://schemas.openxmlformats.org/officeDocument/2006/relationships/slide" Target="/ppt/slides/slide2.xml" Id="R60144ab0a72048c3" /><Relationship Type="http://schemas.openxmlformats.org/officeDocument/2006/relationships/slide" Target="/ppt/slides/slide3.xml" Id="R63f0218b64c344c6" /><Relationship Type="http://schemas.openxmlformats.org/officeDocument/2006/relationships/slide" Target="/ppt/slides/slide4.xml" Id="R223a38c46c3a45f6" /><Relationship Type="http://schemas.openxmlformats.org/officeDocument/2006/relationships/slide" Target="/ppt/slides/slide5.xml" Id="R0185367a070d4035" /><Relationship Type="http://schemas.openxmlformats.org/officeDocument/2006/relationships/slide" Target="/ppt/slides/slide6.xml" Id="Rf1a2e197d67c49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eba0fbb5d143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15c927380b486f" /><Relationship Type="http://schemas.openxmlformats.org/officeDocument/2006/relationships/notesMaster" Target="/ppt/notesMasters/notesMaster1.xml" Id="R30c8b675d0f548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7339b4b1f8479a" /><Relationship Type="http://schemas.openxmlformats.org/officeDocument/2006/relationships/notesMaster" Target="/ppt/notesMasters/notesMaster1.xml" Id="Rda005f531df244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f06c0dda544ca9" /><Relationship Type="http://schemas.openxmlformats.org/officeDocument/2006/relationships/notesMaster" Target="/ppt/notesMasters/notesMaster1.xml" Id="Rb4515e3bdcda4c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91b02240da430d" /><Relationship Type="http://schemas.openxmlformats.org/officeDocument/2006/relationships/notesMaster" Target="/ppt/notesMasters/notesMaster1.xml" Id="R5c035264fce048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06effa11174775" /><Relationship Type="http://schemas.openxmlformats.org/officeDocument/2006/relationships/notesMaster" Target="/ppt/notesMasters/notesMaster1.xml" Id="R0817b1ab7e9d4c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79bbdad13546b2" /><Relationship Type="http://schemas.openxmlformats.org/officeDocument/2006/relationships/notesMaster" Target="/ppt/notesMasters/notesMaster1.xml" Id="Ra9f15e518da84d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360"/>
              </a:spcBef>
              <a:spcAft>
                <a:spcPts val="0"/>
              </a:spcAft>
              <a:buNone/>
            </a:pPr>
            <a:r>
              <a:t>Working title and event artwork retained from supplied template. Confirm current SIH branding, portal theme and registered team details before submission. Product name is NavDR; no team identity was invented. Illustration is conceptual.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Target is an internal validation objective, not a general field result or verified ISRO mandate. Paths in the illustration are conceptual. Proactive NavIC-aware handoff remains planned.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Conceptual processing layers, not additional phone hardware. Actual current system: untrained causal TCN, six-state planar EKF, imported OSM road matcher. TCN output uses explicit GNSS-anchor constraints, not learned drift suppression. Sources: https://arxiv.org/abs/1803.01271 ; https://valhalla.github.io/valhalla/meili/algorithms/ ; local implementation js/navigation-core.js and js/ai-motion-estimator.js.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Pyramid represents project maturity, not the neural architecture. Native Android code and model training require device and dataset validation. No field reliability claim is made.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Potential users and benefits, not deployed customers or measured safety outcomes. Field impact and budget-phone performance remain to be validated. No zero-cost or energy-saving claim.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Research sources are linked in the slide. They do not establish equivalent NavDR performance. Project URLs supplied by the user: https://youtu.be/GoU52CqyaNI?si=BRUkPWE7Z4fjoDyq and https://github.com/Sudhanshu-01-ui/gps. Contents not independently verified in this session. Image generation prompts: docs/pitch/NavDR_Pitch_Blueprint.md.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0fecbdc5144c8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520ade4802454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b63e8e60ff463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24b488ec6e425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bdc899a60a428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54bfb9f6aa4e6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efabfdd61d4b6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b69e012a2d40b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2f212f07f0448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0951cb0aef46d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bbbc863a2a4ca5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1480AA37-707E-423C-852B-35F5F6F519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7" name="Google Shape;17;p2">
            <a:extLst xmlns:a="http://schemas.openxmlformats.org/drawingml/2006/main">
              <a:ext uri="{FF2B5EF4-FFF2-40B4-BE49-F238E27FC236}">
                <a16:creationId xmlns:a16="http://schemas.microsoft.com/office/drawing/2014/main" id="{4F63F0FE-E1F2-43B7-991F-FF784B88882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8" name="Google Shape;18;p2">
            <a:extLst xmlns:a="http://schemas.openxmlformats.org/drawingml/2006/main">
              <a:ext uri="{FF2B5EF4-FFF2-40B4-BE49-F238E27FC236}">
                <a16:creationId xmlns:a16="http://schemas.microsoft.com/office/drawing/2014/main" id="{16EF790E-6BF1-430B-AE56-EA3F1075C7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Google Shape;19;p2">
            <a:extLst xmlns:a="http://schemas.openxmlformats.org/drawingml/2006/main">
              <a:ext uri="{FF2B5EF4-FFF2-40B4-BE49-F238E27FC236}">
                <a16:creationId xmlns:a16="http://schemas.microsoft.com/office/drawing/2014/main" id="{BD272846-EBEC-4F76-8449-A422B1A5B2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0" name="Google Shape;20;p2">
            <a:extLst xmlns:a="http://schemas.openxmlformats.org/drawingml/2006/main">
              <a:ext uri="{FF2B5EF4-FFF2-40B4-BE49-F238E27FC236}">
                <a16:creationId xmlns:a16="http://schemas.microsoft.com/office/drawing/2014/main" id="{351914E1-59C3-4F21-8A92-E7EA31053E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3pPr>
            <a:lvl4pPr mar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4pPr>
            <a:lvl5pPr mar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5pPr>
            <a:lvl6pPr mar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6pPr>
            <a:lvl7pPr mar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7pPr>
            <a:lvl8pPr mar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8pPr>
            <a:lvl9pPr mar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3">
            <a:extLst xmlns:a="http://schemas.openxmlformats.org/drawingml/2006/main">
              <a:ext uri="{FF2B5EF4-FFF2-40B4-BE49-F238E27FC236}">
                <a16:creationId xmlns:a16="http://schemas.microsoft.com/office/drawing/2014/main" id="{1C8F0847-12D1-4F8D-9BDE-022CE419E2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3" name="Google Shape;23;p3">
            <a:extLst xmlns:a="http://schemas.openxmlformats.org/drawingml/2006/main">
              <a:ext uri="{FF2B5EF4-FFF2-40B4-BE49-F238E27FC236}">
                <a16:creationId xmlns:a16="http://schemas.microsoft.com/office/drawing/2014/main" id="{B0DAEEE4-78B1-4EB3-9D94-F2AF2535A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4" name="Google Shape;24;p3">
            <a:extLst xmlns:a="http://schemas.openxmlformats.org/drawingml/2006/main">
              <a:ext uri="{FF2B5EF4-FFF2-40B4-BE49-F238E27FC236}">
                <a16:creationId xmlns:a16="http://schemas.microsoft.com/office/drawing/2014/main" id="{68D9DE83-DCD8-4850-9DF2-DC57317BAC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Google Shape;25;p3">
            <a:extLst xmlns:a="http://schemas.openxmlformats.org/drawingml/2006/main">
              <a:ext uri="{FF2B5EF4-FFF2-40B4-BE49-F238E27FC236}">
                <a16:creationId xmlns:a16="http://schemas.microsoft.com/office/drawing/2014/main" id="{55CD1CFE-F055-49E1-A76B-78B69FD4EB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6" name="Google Shape;26;p3">
            <a:extLst xmlns:a="http://schemas.openxmlformats.org/drawingml/2006/main">
              <a:ext uri="{FF2B5EF4-FFF2-40B4-BE49-F238E27FC236}">
                <a16:creationId xmlns:a16="http://schemas.microsoft.com/office/drawing/2014/main" id="{90D5B16D-FA81-4337-A589-D807928362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3pPr>
            <a:lvl4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4pPr>
            <a:lvl5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5pPr>
            <a:lvl6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6pPr>
            <a:lvl7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7pPr>
            <a:lvl8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8pPr>
            <a:lvl9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AA0971CA-5F6E-421A-AFB6-6B860A8B8D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D9E5AFA6-47B7-4BBF-8B7F-F705FD824D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8995412E-A6BD-4778-991F-31449F9656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1FBBE66A-1569-436E-9153-090ED6727B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0267655E-321C-4522-8637-D52E04AE61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3pPr>
            <a:lvl4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4pPr>
            <a:lvl5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5pPr>
            <a:lvl6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6pPr>
            <a:lvl7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7pPr>
            <a:lvl8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8pPr>
            <a:lvl9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oogle Shape;34;p5">
            <a:extLst xmlns:a="http://schemas.openxmlformats.org/drawingml/2006/main">
              <a:ext uri="{FF2B5EF4-FFF2-40B4-BE49-F238E27FC236}">
                <a16:creationId xmlns:a16="http://schemas.microsoft.com/office/drawing/2014/main" id="{587561F4-F0B4-45AC-AFD0-20019F6605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Google Shape;35;p5">
            <a:extLst xmlns:a="http://schemas.openxmlformats.org/drawingml/2006/main">
              <a:ext uri="{FF2B5EF4-FFF2-40B4-BE49-F238E27FC236}">
                <a16:creationId xmlns:a16="http://schemas.microsoft.com/office/drawing/2014/main" id="{C17F5FAF-D808-492B-98D4-3F8F804E68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600203"/>
            <a:ext cx="53848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36" name="Google Shape;36;p5">
            <a:extLst xmlns:a="http://schemas.openxmlformats.org/drawingml/2006/main">
              <a:ext uri="{FF2B5EF4-FFF2-40B4-BE49-F238E27FC236}">
                <a16:creationId xmlns:a16="http://schemas.microsoft.com/office/drawing/2014/main" id="{248CDEDA-92FE-4023-959D-C3E88C8151A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97600" y="1600203"/>
            <a:ext cx="53848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37" name="Google Shape;37;p5">
            <a:extLst xmlns:a="http://schemas.openxmlformats.org/drawingml/2006/main">
              <a:ext uri="{FF2B5EF4-FFF2-40B4-BE49-F238E27FC236}">
                <a16:creationId xmlns:a16="http://schemas.microsoft.com/office/drawing/2014/main" id="{5D6C7CE7-CAE5-46AF-8133-8FD67E86A2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Google Shape;38;p5">
            <a:extLst xmlns:a="http://schemas.openxmlformats.org/drawingml/2006/main">
              <a:ext uri="{FF2B5EF4-FFF2-40B4-BE49-F238E27FC236}">
                <a16:creationId xmlns:a16="http://schemas.microsoft.com/office/drawing/2014/main" id="{39C3649E-0C30-4ED5-8C79-06FEFE849B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942502D0-717D-47A0-9012-B78CDC5B46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3pPr>
            <a:lvl4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4pPr>
            <a:lvl5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5pPr>
            <a:lvl6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6pPr>
            <a:lvl7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7pPr>
            <a:lvl8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8pPr>
            <a:lvl9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oogle Shape;41;p6">
            <a:extLst xmlns:a="http://schemas.openxmlformats.org/drawingml/2006/main">
              <a:ext uri="{FF2B5EF4-FFF2-40B4-BE49-F238E27FC236}">
                <a16:creationId xmlns:a16="http://schemas.microsoft.com/office/drawing/2014/main" id="{C5713A45-D987-46F2-9A31-5109FED733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2" name="Google Shape;42;p6">
            <a:extLst xmlns:a="http://schemas.openxmlformats.org/drawingml/2006/main">
              <a:ext uri="{FF2B5EF4-FFF2-40B4-BE49-F238E27FC236}">
                <a16:creationId xmlns:a16="http://schemas.microsoft.com/office/drawing/2014/main" id="{3A3293E7-B194-48F7-97BF-D32A988E19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3" name="Google Shape;43;p6">
            <a:extLst xmlns:a="http://schemas.openxmlformats.org/drawingml/2006/main">
              <a:ext uri="{FF2B5EF4-FFF2-40B4-BE49-F238E27FC236}">
                <a16:creationId xmlns:a16="http://schemas.microsoft.com/office/drawing/2014/main" id="{90D21C1D-F917-4A55-B747-8EA92D6D76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0" y="2174875"/>
            <a:ext cx="5386917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44" name="Google Shape;44;p6">
            <a:extLst xmlns:a="http://schemas.openxmlformats.org/drawingml/2006/main">
              <a:ext uri="{FF2B5EF4-FFF2-40B4-BE49-F238E27FC236}">
                <a16:creationId xmlns:a16="http://schemas.microsoft.com/office/drawing/2014/main" id="{E78F8B32-B0C4-445C-B8BB-11B2811B247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5" name="Google Shape;45;p6">
            <a:extLst xmlns:a="http://schemas.openxmlformats.org/drawingml/2006/main">
              <a:ext uri="{FF2B5EF4-FFF2-40B4-BE49-F238E27FC236}">
                <a16:creationId xmlns:a16="http://schemas.microsoft.com/office/drawing/2014/main" id="{08DB0239-A136-4A07-9810-D7F3134A0702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93369" y="2174875"/>
            <a:ext cx="5389033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46" name="Google Shape;46;p6">
            <a:extLst xmlns:a="http://schemas.openxmlformats.org/drawingml/2006/main">
              <a:ext uri="{FF2B5EF4-FFF2-40B4-BE49-F238E27FC236}">
                <a16:creationId xmlns:a16="http://schemas.microsoft.com/office/drawing/2014/main" id="{85B22BCA-FECF-4B85-A143-C275D38A79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Google Shape;47;p6">
            <a:extLst xmlns:a="http://schemas.openxmlformats.org/drawingml/2006/main">
              <a:ext uri="{FF2B5EF4-FFF2-40B4-BE49-F238E27FC236}">
                <a16:creationId xmlns:a16="http://schemas.microsoft.com/office/drawing/2014/main" id="{D8F88DB2-5CAC-4C23-8D2C-778D2445D0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Google Shape;48;p6">
            <a:extLst xmlns:a="http://schemas.openxmlformats.org/drawingml/2006/main">
              <a:ext uri="{FF2B5EF4-FFF2-40B4-BE49-F238E27FC236}">
                <a16:creationId xmlns:a16="http://schemas.microsoft.com/office/drawing/2014/main" id="{CEB672A1-E52E-4576-A3FF-BD095F631F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3pPr>
            <a:lvl4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4pPr>
            <a:lvl5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5pPr>
            <a:lvl6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6pPr>
            <a:lvl7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7pPr>
            <a:lvl8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8pPr>
            <a:lvl9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7">
            <a:extLst xmlns:a="http://schemas.openxmlformats.org/drawingml/2006/main">
              <a:ext uri="{FF2B5EF4-FFF2-40B4-BE49-F238E27FC236}">
                <a16:creationId xmlns:a16="http://schemas.microsoft.com/office/drawing/2014/main" id="{26E1782D-2C0F-451D-8E20-2F553C51F8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1" name="Google Shape;51;p7">
            <a:extLst xmlns:a="http://schemas.openxmlformats.org/drawingml/2006/main">
              <a:ext uri="{FF2B5EF4-FFF2-40B4-BE49-F238E27FC236}">
                <a16:creationId xmlns:a16="http://schemas.microsoft.com/office/drawing/2014/main" id="{09BA71DE-3943-4CF6-9B31-989C405D5F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Google Shape;52;p7">
            <a:extLst xmlns:a="http://schemas.openxmlformats.org/drawingml/2006/main">
              <a:ext uri="{FF2B5EF4-FFF2-40B4-BE49-F238E27FC236}">
                <a16:creationId xmlns:a16="http://schemas.microsoft.com/office/drawing/2014/main" id="{303A334A-204E-4069-983E-486B25B656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Google Shape;53;p7">
            <a:extLst xmlns:a="http://schemas.openxmlformats.org/drawingml/2006/main">
              <a:ext uri="{FF2B5EF4-FFF2-40B4-BE49-F238E27FC236}">
                <a16:creationId xmlns:a16="http://schemas.microsoft.com/office/drawing/2014/main" id="{A52321C5-A4D0-42D2-AA6A-E935DD2A64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3pPr>
            <a:lvl4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4pPr>
            <a:lvl5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5pPr>
            <a:lvl6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6pPr>
            <a:lvl7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7pPr>
            <a:lvl8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8pPr>
            <a:lvl9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8">
            <a:extLst xmlns:a="http://schemas.openxmlformats.org/drawingml/2006/main">
              <a:ext uri="{FF2B5EF4-FFF2-40B4-BE49-F238E27FC236}">
                <a16:creationId xmlns:a16="http://schemas.microsoft.com/office/drawing/2014/main" id="{8DCD9303-66AD-44CA-87F8-D0D9DB5359F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Google Shape;56;p8">
            <a:extLst xmlns:a="http://schemas.openxmlformats.org/drawingml/2006/main">
              <a:ext uri="{FF2B5EF4-FFF2-40B4-BE49-F238E27FC236}">
                <a16:creationId xmlns:a16="http://schemas.microsoft.com/office/drawing/2014/main" id="{021A22E3-FF3E-40C2-B874-77152C8F96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7" name="Google Shape;57;p8">
            <a:extLst xmlns:a="http://schemas.openxmlformats.org/drawingml/2006/main">
              <a:ext uri="{FF2B5EF4-FFF2-40B4-BE49-F238E27FC236}">
                <a16:creationId xmlns:a16="http://schemas.microsoft.com/office/drawing/2014/main" id="{D995F680-A7F4-4EE1-AC1E-01430DCEDE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3pPr>
            <a:lvl4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4pPr>
            <a:lvl5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5pPr>
            <a:lvl6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6pPr>
            <a:lvl7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7pPr>
            <a:lvl8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8pPr>
            <a:lvl9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51E753A1-7197-47F6-9E5D-2D11788A3B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1EFCA1FB-F688-4AEF-8A8F-B7E0F74DDA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766733" y="273053"/>
            <a:ext cx="6815667" cy="5853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/>
        </p:txBody>
      </p:sp>
      <p:sp>
        <p:nvSpPr>
          <p:cNvPr id="61" name="Google Shape;61;p9">
            <a:extLst xmlns:a="http://schemas.openxmlformats.org/drawingml/2006/main">
              <a:ext uri="{FF2B5EF4-FFF2-40B4-BE49-F238E27FC236}">
                <a16:creationId xmlns:a16="http://schemas.microsoft.com/office/drawing/2014/main" id="{B6EA56E6-1E94-4240-8941-C576638107D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62" name="Google Shape;62;p9">
            <a:extLst xmlns:a="http://schemas.openxmlformats.org/drawingml/2006/main">
              <a:ext uri="{FF2B5EF4-FFF2-40B4-BE49-F238E27FC236}">
                <a16:creationId xmlns:a16="http://schemas.microsoft.com/office/drawing/2014/main" id="{A946F158-C806-4CAA-AE6F-F3EBA08CAF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Google Shape;63;p9">
            <a:extLst xmlns:a="http://schemas.openxmlformats.org/drawingml/2006/main">
              <a:ext uri="{FF2B5EF4-FFF2-40B4-BE49-F238E27FC236}">
                <a16:creationId xmlns:a16="http://schemas.microsoft.com/office/drawing/2014/main" id="{AC42CC6D-29FE-4F79-AF6B-0E34E7C133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4" name="Google Shape;64;p9">
            <a:extLst xmlns:a="http://schemas.openxmlformats.org/drawingml/2006/main">
              <a:ext uri="{FF2B5EF4-FFF2-40B4-BE49-F238E27FC236}">
                <a16:creationId xmlns:a16="http://schemas.microsoft.com/office/drawing/2014/main" id="{32DE313A-F568-4B4B-A6DD-CAA046980B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3pPr>
            <a:lvl4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4pPr>
            <a:lvl5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5pPr>
            <a:lvl6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6pPr>
            <a:lvl7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7pPr>
            <a:lvl8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8pPr>
            <a:lvl9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10">
            <a:extLst xmlns:a="http://schemas.openxmlformats.org/drawingml/2006/main">
              <a:ext uri="{FF2B5EF4-FFF2-40B4-BE49-F238E27FC236}">
                <a16:creationId xmlns:a16="http://schemas.microsoft.com/office/drawing/2014/main" id="{A3722BCC-D822-4EA0-B721-4D99DA04CD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3EB84DE4-B7D5-4904-84E8-E42B920189BF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2389717" y="612775"/>
            <a:ext cx="7315200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8" name="Google Shape;68;p10">
            <a:extLst xmlns:a="http://schemas.openxmlformats.org/drawingml/2006/main">
              <a:ext uri="{FF2B5EF4-FFF2-40B4-BE49-F238E27FC236}">
                <a16:creationId xmlns:a16="http://schemas.microsoft.com/office/drawing/2014/main" id="{D6C242CC-DA37-464F-9222-D532434346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389717" y="5367338"/>
            <a:ext cx="7315200" cy="804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69" name="Google Shape;69;p10">
            <a:extLst xmlns:a="http://schemas.openxmlformats.org/drawingml/2006/main">
              <a:ext uri="{FF2B5EF4-FFF2-40B4-BE49-F238E27FC236}">
                <a16:creationId xmlns:a16="http://schemas.microsoft.com/office/drawing/2014/main" id="{000B7F90-8894-41FA-8695-C2236BCE43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Google Shape;70;p10">
            <a:extLst xmlns:a="http://schemas.openxmlformats.org/drawingml/2006/main">
              <a:ext uri="{FF2B5EF4-FFF2-40B4-BE49-F238E27FC236}">
                <a16:creationId xmlns:a16="http://schemas.microsoft.com/office/drawing/2014/main" id="{E1EE1D06-8663-470B-B2E6-E83B00EA9F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1" name="Google Shape;71;p10">
            <a:extLst xmlns:a="http://schemas.openxmlformats.org/drawingml/2006/main">
              <a:ext uri="{FF2B5EF4-FFF2-40B4-BE49-F238E27FC236}">
                <a16:creationId xmlns:a16="http://schemas.microsoft.com/office/drawing/2014/main" id="{5F6CE4CE-2030-4702-8586-F97A5844C5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3pPr>
            <a:lvl4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4pPr>
            <a:lvl5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5pPr>
            <a:lvl6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6pPr>
            <a:lvl7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7pPr>
            <a:lvl8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8pPr>
            <a:lvl9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Google Shape;73;p11">
            <a:extLst xmlns:a="http://schemas.openxmlformats.org/drawingml/2006/main">
              <a:ext uri="{FF2B5EF4-FFF2-40B4-BE49-F238E27FC236}">
                <a16:creationId xmlns:a16="http://schemas.microsoft.com/office/drawing/2014/main" id="{B67DFE73-FD5E-4F61-9448-DCAFFFA6F7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4" name="Google Shape;74;p11">
            <a:extLst xmlns:a="http://schemas.openxmlformats.org/drawingml/2006/main">
              <a:ext uri="{FF2B5EF4-FFF2-40B4-BE49-F238E27FC236}">
                <a16:creationId xmlns:a16="http://schemas.microsoft.com/office/drawing/2014/main" id="{A3D1E219-7FAC-42C8-991C-6BD8C0B24D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580606" y="-1875631"/>
            <a:ext cx="5030788" cy="109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5" name="Google Shape;75;p11">
            <a:extLst xmlns:a="http://schemas.openxmlformats.org/drawingml/2006/main">
              <a:ext uri="{FF2B5EF4-FFF2-40B4-BE49-F238E27FC236}">
                <a16:creationId xmlns:a16="http://schemas.microsoft.com/office/drawing/2014/main" id="{306C16E0-DD96-430F-BE53-E671C340A0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Google Shape;76;p11">
            <a:extLst xmlns:a="http://schemas.openxmlformats.org/drawingml/2006/main">
              <a:ext uri="{FF2B5EF4-FFF2-40B4-BE49-F238E27FC236}">
                <a16:creationId xmlns:a16="http://schemas.microsoft.com/office/drawing/2014/main" id="{56F771EE-67F9-4B46-98CE-03D40E4AC7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7" name="Google Shape;77;p11">
            <a:extLst xmlns:a="http://schemas.openxmlformats.org/drawingml/2006/main">
              <a:ext uri="{FF2B5EF4-FFF2-40B4-BE49-F238E27FC236}">
                <a16:creationId xmlns:a16="http://schemas.microsoft.com/office/drawing/2014/main" id="{8E9BF1B3-DA16-4705-8648-CA1A1472A9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3pPr>
            <a:lvl4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4pPr>
            <a:lvl5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5pPr>
            <a:lvl6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6pPr>
            <a:lvl7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7pPr>
            <a:lvl8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8pPr>
            <a:lvl9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Google Shape;79;p12">
            <a:extLst xmlns:a="http://schemas.openxmlformats.org/drawingml/2006/main">
              <a:ext uri="{FF2B5EF4-FFF2-40B4-BE49-F238E27FC236}">
                <a16:creationId xmlns:a16="http://schemas.microsoft.com/office/drawing/2014/main" id="{C4CA89AE-8061-431C-9F50-9A39239E78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285038" y="1828804"/>
            <a:ext cx="58515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0" name="Google Shape;80;p12">
            <a:extLst xmlns:a="http://schemas.openxmlformats.org/drawingml/2006/main">
              <a:ext uri="{FF2B5EF4-FFF2-40B4-BE49-F238E27FC236}">
                <a16:creationId xmlns:a16="http://schemas.microsoft.com/office/drawing/2014/main" id="{DAAB8BE2-ED39-4E6C-9919-23C9AC1645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697038" y="-812796"/>
            <a:ext cx="5851525" cy="802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81" name="Google Shape;81;p12">
            <a:extLst xmlns:a="http://schemas.openxmlformats.org/drawingml/2006/main">
              <a:ext uri="{FF2B5EF4-FFF2-40B4-BE49-F238E27FC236}">
                <a16:creationId xmlns:a16="http://schemas.microsoft.com/office/drawing/2014/main" id="{4AB7CAA2-E6CF-4E28-8EEE-FBF34AD0BE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2" name="Google Shape;82;p12">
            <a:extLst xmlns:a="http://schemas.openxmlformats.org/drawingml/2006/main">
              <a:ext uri="{FF2B5EF4-FFF2-40B4-BE49-F238E27FC236}">
                <a16:creationId xmlns:a16="http://schemas.microsoft.com/office/drawing/2014/main" id="{31E1E8D7-58EE-458C-9D5E-58B93BF2B2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3" name="Google Shape;83;p12">
            <a:extLst xmlns:a="http://schemas.openxmlformats.org/drawingml/2006/main">
              <a:ext uri="{FF2B5EF4-FFF2-40B4-BE49-F238E27FC236}">
                <a16:creationId xmlns:a16="http://schemas.microsoft.com/office/drawing/2014/main" id="{7BDC2B96-4F8F-4EBA-8206-2D32B30130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3pPr>
            <a:lvl4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4pPr>
            <a:lvl5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5pPr>
            <a:lvl6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6pPr>
            <a:lvl7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7pPr>
            <a:lvl8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8pPr>
            <a:lvl9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2c4ee15c6a4212" /><Relationship Type="http://schemas.openxmlformats.org/officeDocument/2006/relationships/slideLayout" Target="/ppt/slideLayouts/slideLayout1.xml" Id="R8ef78fc141a54c36" /><Relationship Type="http://schemas.openxmlformats.org/officeDocument/2006/relationships/slideLayout" Target="/ppt/slideLayouts/slideLayout2.xml" Id="R32a8cbb174ba479e" /><Relationship Type="http://schemas.openxmlformats.org/officeDocument/2006/relationships/slideLayout" Target="/ppt/slideLayouts/slideLayout3.xml" Id="R8f939e684ef3448f" /><Relationship Type="http://schemas.openxmlformats.org/officeDocument/2006/relationships/slideLayout" Target="/ppt/slideLayouts/slideLayout4.xml" Id="R7c872127ac554b7e" /><Relationship Type="http://schemas.openxmlformats.org/officeDocument/2006/relationships/slideLayout" Target="/ppt/slideLayouts/slideLayout5.xml" Id="R4bf8578ad78b4b9a" /><Relationship Type="http://schemas.openxmlformats.org/officeDocument/2006/relationships/slideLayout" Target="/ppt/slideLayouts/slideLayout6.xml" Id="R7f3bb8b46cfb4ae3" /><Relationship Type="http://schemas.openxmlformats.org/officeDocument/2006/relationships/slideLayout" Target="/ppt/slideLayouts/slideLayout7.xml" Id="R6c95ff9eab824b9f" /><Relationship Type="http://schemas.openxmlformats.org/officeDocument/2006/relationships/slideLayout" Target="/ppt/slideLayouts/slideLayout8.xml" Id="Ra0409cc9948c4cd8" /><Relationship Type="http://schemas.openxmlformats.org/officeDocument/2006/relationships/slideLayout" Target="/ppt/slideLayouts/slideLayout9.xml" Id="R72df39f5dfbd4bfe" /><Relationship Type="http://schemas.openxmlformats.org/officeDocument/2006/relationships/slideLayout" Target="/ppt/slideLayouts/slideLayout10.xml" Id="Ra2fb0197a2754f93" /><Relationship Type="http://schemas.openxmlformats.org/officeDocument/2006/relationships/slideLayout" Target="/ppt/slideLayouts/slideLayout11.xml" Id="R3c4cf19957964b88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1">
            <a:extLst xmlns:a="http://schemas.openxmlformats.org/drawingml/2006/main">
              <a:ext uri="{FF2B5EF4-FFF2-40B4-BE49-F238E27FC236}">
                <a16:creationId xmlns:a16="http://schemas.microsoft.com/office/drawing/2014/main" id="{0CCCA64A-8085-4911-ACC6-90B84BA893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1pPr>
            <a:lvl2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2pPr>
            <a:lvl3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3pPr>
            <a:lvl4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4pPr>
            <a:lvl5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5pPr>
            <a:lvl6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6pPr>
            <a:lvl7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7pPr>
            <a:lvl8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8pPr>
            <a:lvl9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/>
        </p:txBody>
      </p:sp>
      <p:sp>
        <p:nvSpPr>
          <p:cNvPr id="11" name="Google Shape;11;p1">
            <a:extLst xmlns:a="http://schemas.openxmlformats.org/drawingml/2006/main">
              <a:ext uri="{FF2B5EF4-FFF2-40B4-BE49-F238E27FC236}">
                <a16:creationId xmlns:a16="http://schemas.microsoft.com/office/drawing/2014/main" id="{0A608880-D61B-4C31-8D54-24FF02523A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1pPr>
            <a:lvl2pPr marL="914400" marR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2pPr>
            <a:lvl3pPr marL="1371600" marR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3pPr>
            <a:lvl4pPr marL="1828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4pPr>
            <a:lvl5pPr marL="22860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cap="none">
                <a:solidFill>
                  <a:schemeClr val="dk1"/>
                </a:solidFill>
                <a:latin typeface="Oswald"/>
                <a:ea typeface="Oswald"/>
                <a:cs typeface="Oswald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2" name="Google Shape;12;p1">
            <a:extLst xmlns:a="http://schemas.openxmlformats.org/drawingml/2006/main">
              <a:ext uri="{FF2B5EF4-FFF2-40B4-BE49-F238E27FC236}">
                <a16:creationId xmlns:a16="http://schemas.microsoft.com/office/drawing/2014/main" id="{6B17BDB0-A389-4756-83D2-D63EAA111B3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3" name="Google Shape;13;p1">
            <a:extLst xmlns:a="http://schemas.openxmlformats.org/drawingml/2006/main">
              <a:ext uri="{FF2B5EF4-FFF2-40B4-BE49-F238E27FC236}">
                <a16:creationId xmlns:a16="http://schemas.microsoft.com/office/drawing/2014/main" id="{FAFE963C-F19C-488D-A766-B0875EE9C4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Oswald"/>
                <a:ea typeface="Oswald"/>
                <a:cs typeface="Oswald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4" name="Google Shape;14;p1">
            <a:extLst xmlns:a="http://schemas.openxmlformats.org/drawingml/2006/main">
              <a:ext uri="{FF2B5EF4-FFF2-40B4-BE49-F238E27FC236}">
                <a16:creationId xmlns:a16="http://schemas.microsoft.com/office/drawing/2014/main" id="{D76CCEFE-7732-4013-9DD5-424C936117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f78fc141a54c36"/>
    <p:sldLayoutId xmlns:r="http://schemas.openxmlformats.org/officeDocument/2006/relationships" id="2147483650" r:id="R32a8cbb174ba479e"/>
    <p:sldLayoutId xmlns:r="http://schemas.openxmlformats.org/officeDocument/2006/relationships" id="2147483651" r:id="R8f939e684ef3448f"/>
    <p:sldLayoutId xmlns:r="http://schemas.openxmlformats.org/officeDocument/2006/relationships" id="2147483652" r:id="R7c872127ac554b7e"/>
    <p:sldLayoutId xmlns:r="http://schemas.openxmlformats.org/officeDocument/2006/relationships" id="2147483653" r:id="R4bf8578ad78b4b9a"/>
    <p:sldLayoutId xmlns:r="http://schemas.openxmlformats.org/officeDocument/2006/relationships" id="2147483654" r:id="R7f3bb8b46cfb4ae3"/>
    <p:sldLayoutId xmlns:r="http://schemas.openxmlformats.org/officeDocument/2006/relationships" id="2147483655" r:id="R6c95ff9eab824b9f"/>
    <p:sldLayoutId xmlns:r="http://schemas.openxmlformats.org/officeDocument/2006/relationships" id="2147483656" r:id="Ra0409cc9948c4cd8"/>
    <p:sldLayoutId xmlns:r="http://schemas.openxmlformats.org/officeDocument/2006/relationships" id="2147483657" r:id="R72df39f5dfbd4bfe"/>
    <p:sldLayoutId xmlns:r="http://schemas.openxmlformats.org/officeDocument/2006/relationships" id="2147483658" r:id="Ra2fb0197a2754f93"/>
    <p:sldLayoutId xmlns:r="http://schemas.openxmlformats.org/officeDocument/2006/relationships" id="2147483659" r:id="R3c4cf19957964b88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b2a1cdb6c4643" /><Relationship Type="http://schemas.openxmlformats.org/officeDocument/2006/relationships/image" Target="/ppt/media/image.png" Id="R1302a7bd3e7d4871" /><Relationship Type="http://schemas.openxmlformats.org/officeDocument/2006/relationships/image" Target="/ppt/media/image2.png" Id="R9f1d16b484eb43f6" /><Relationship Type="http://schemas.openxmlformats.org/officeDocument/2006/relationships/image" Target="/ppt/media/image3.png" Id="R2a9c032e8ac143ba" /><Relationship Type="http://schemas.openxmlformats.org/officeDocument/2006/relationships/notesSlide" Target="/ppt/notesSlides/notesSlide1.xml" Id="Rf976644b77fe4b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1b1b5cae494b40" /><Relationship Type="http://schemas.openxmlformats.org/officeDocument/2006/relationships/image" Target="/ppt/media/image.png" Id="R94fbd094c8e34dfc" /><Relationship Type="http://schemas.openxmlformats.org/officeDocument/2006/relationships/image" Target="/ppt/media/image2.png" Id="Rd9f7ea9e7dde47d1" /><Relationship Type="http://schemas.openxmlformats.org/officeDocument/2006/relationships/image" Target="/ppt/media/image4.png" Id="R169cca43e3634f02" /><Relationship Type="http://schemas.openxmlformats.org/officeDocument/2006/relationships/notesSlide" Target="/ppt/notesSlides/notesSlide2.xml" Id="R86cc2a06d10c43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4fde6f797542a4" /><Relationship Type="http://schemas.openxmlformats.org/officeDocument/2006/relationships/image" Target="/ppt/media/image.png" Id="R1644ee10d5054bc0" /><Relationship Type="http://schemas.openxmlformats.org/officeDocument/2006/relationships/image" Target="/ppt/media/image2.png" Id="R290c4a4bad2f49fa" /><Relationship Type="http://schemas.openxmlformats.org/officeDocument/2006/relationships/image" Target="/ppt/media/image5.png" Id="R12ef570b609c4487" /><Relationship Type="http://schemas.openxmlformats.org/officeDocument/2006/relationships/notesSlide" Target="/ppt/notesSlides/notesSlide3.xml" Id="Reac04b7da00e4d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9fc4e7d2354f04" /><Relationship Type="http://schemas.openxmlformats.org/officeDocument/2006/relationships/image" Target="/ppt/media/image.png" Id="R71c72eb093054d28" /><Relationship Type="http://schemas.openxmlformats.org/officeDocument/2006/relationships/image" Target="/ppt/media/image2.png" Id="R2ddaecd0646948cb" /><Relationship Type="http://schemas.openxmlformats.org/officeDocument/2006/relationships/image" Target="/ppt/media/image6.png" Id="R883298fda31c4f02" /><Relationship Type="http://schemas.openxmlformats.org/officeDocument/2006/relationships/notesSlide" Target="/ppt/notesSlides/notesSlide4.xml" Id="R0d4f97cc5ea648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41bc55ffb54a93" /><Relationship Type="http://schemas.openxmlformats.org/officeDocument/2006/relationships/image" Target="/ppt/media/image.png" Id="Rf16818dd829a488e" /><Relationship Type="http://schemas.openxmlformats.org/officeDocument/2006/relationships/image" Target="/ppt/media/image2.png" Id="Raa54b52eb7bd4df3" /><Relationship Type="http://schemas.openxmlformats.org/officeDocument/2006/relationships/image" Target="/ppt/media/image7.png" Id="R529baf38a8014eea" /><Relationship Type="http://schemas.openxmlformats.org/officeDocument/2006/relationships/notesSlide" Target="/ppt/notesSlides/notesSlide5.xml" Id="R6cc38f39794e41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dd6ccaab084e5e" /><Relationship Type="http://schemas.openxmlformats.org/officeDocument/2006/relationships/image" Target="/ppt/media/image.png" Id="R645e9f77be9a4a3b" /><Relationship Type="http://schemas.openxmlformats.org/officeDocument/2006/relationships/image" Target="/ppt/media/image2.png" Id="Rc65a8fe47a7f4089" /><Relationship Type="http://schemas.openxmlformats.org/officeDocument/2006/relationships/image" Target="/ppt/media/image8.png" Id="R0d6006dc0c7f479d" /><Relationship Type="http://schemas.openxmlformats.org/officeDocument/2006/relationships/hyperlink" Target="https://github.com/onyekpeu/IO-VNBD" TargetMode="External" Id="R8596f59a89694e28" /><Relationship Type="http://schemas.openxmlformats.org/officeDocument/2006/relationships/hyperlink" Target="https://doi.org/10.1109/TIV.2020.2980758" TargetMode="External" Id="Rfbeda5dc51a44921" /><Relationship Type="http://schemas.openxmlformats.org/officeDocument/2006/relationships/hyperlink" Target="https://arxiv.org/abs/1803.01271" TargetMode="External" Id="R0b3a731f916d4cf8" /><Relationship Type="http://schemas.openxmlformats.org/officeDocument/2006/relationships/hyperlink" Target="https://valhalla.github.io/valhalla/meili/algorithms/" TargetMode="External" Id="R07c9912051404769" /><Relationship Type="http://schemas.openxmlformats.org/officeDocument/2006/relationships/hyperlink" Target="https://developer.android.com/reference/android/location/GnssStatus" TargetMode="External" Id="Rff67347069ba4b4f" /><Relationship Type="http://schemas.openxmlformats.org/officeDocument/2006/relationships/hyperlink" Target="https://youtu.be/GoU52CqyaNI?si=BRUkPWE7Z4fjoDyq" TargetMode="External" Id="R37d8fbbfd50b477f" /><Relationship Type="http://schemas.openxmlformats.org/officeDocument/2006/relationships/hyperlink" Target="https://github.com/Sudhanshu-01-ui/gps" TargetMode="External" Id="Racd007b68bd34c33" /><Relationship Type="http://schemas.openxmlformats.org/officeDocument/2006/relationships/notesSlide" Target="/ppt/notesSlides/notesSlide6.xml" Id="R2b10ba695fc940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4" name="Google Shape;92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302a7bd3e7d4871">
            <a:alphaModFix/>
          </a:blip>
          <a:srcRect xmlns:a="http://schemas.openxmlformats.org/drawingml/2006/main" l="9212" t="14430" r="7717" b="15488"/>
          <a:stretch xmlns:a="http://schemas.openxmlformats.org/drawingml/2006/main"/>
        </p:blipFill>
        <p:spPr>
          <a:xfrm xmlns:a="http://schemas.openxmlformats.org/drawingml/2006/main">
            <a:off x="464750" y="298625"/>
            <a:ext cx="2040401" cy="870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5" name="Google Shape;93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1d16b484eb43f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77525" y="298623"/>
            <a:ext cx="1167750" cy="1025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E8ED62C-3BB7-4A64-B02F-AF85FC0E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3375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TEKATHON-5.0 · 2026</a:t>
            </a:r>
          </a:p>
        </p:txBody>
      </p:sp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9c032e8ac143ba"/>
          <a:stretch xmlns:a="http://schemas.openxmlformats.org/drawingml/2006/main"/>
        </p:blipFill>
        <p:spPr>
          <a:xfrm xmlns:a="http://schemas.openxmlformats.org/drawingml/2006/main">
            <a:off x="7119258" y="1381125"/>
            <a:ext cx="3811359" cy="4762500"/>
          </a:xfrm>
          <a:prstGeom xmlns:a="http://schemas.openxmlformats.org/drawingml/2006/main" prst="rect">
            <a:avLst/>
          </a:prstGeom>
        </p:spPr>
      </p:pic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B3FE8E2-E32D-4DB2-9BE7-C25DCA1B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NavDR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10B4077-4244-4368-8C70-226D15FE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557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8C8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8C82"/>
                </a:solidFill>
                <a:latin typeface="Arial"/>
                <a:ea typeface="Arial"/>
                <a:cs typeface="Arial"/>
              </a:rPr>
              <a:t>Smartphone navigation</a:t>
            </a:r>
          </a:p>
          <a:p xmlns:a="http://schemas.openxmlformats.org/drawingml/2006/main">
            <a:pPr>
              <a:defRPr sz="2700" b="1">
                <a:solidFill>
                  <a:srgbClr val="008C8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8C82"/>
                </a:solidFill>
                <a:latin typeface="Arial"/>
                <a:ea typeface="Arial"/>
                <a:cs typeface="Arial"/>
              </a:rPr>
              <a:t>through GNSS outages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3C44DB2-B3B7-40B3-A5F1-0620E849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571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AI-ML based Intelligent Dead Reckoning</a:t>
            </a:r>
          </a:p>
          <a:p xmlns:a="http://schemas.openxmlformats.org/drawingml/2006/main">
            <a:pPr>
              <a:defRPr sz="20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system for seamless navigation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C409476-544C-410F-B147-F93DBC44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581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61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171"/>
                </a:solidFill>
                <a:latin typeface="Arial"/>
                <a:ea typeface="Arial"/>
                <a:cs typeface="Arial"/>
              </a:rPr>
              <a:t>Problem Statement 26168</a:t>
            </a:r>
          </a:p>
          <a:p xmlns:a="http://schemas.openxmlformats.org/drawingml/2006/main">
            <a:pPr>
              <a:defRPr sz="1650" b="0">
                <a:solidFill>
                  <a:srgbClr val="5161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171"/>
                </a:solidFill>
                <a:latin typeface="Arial"/>
                <a:ea typeface="Arial"/>
                <a:cs typeface="Arial"/>
              </a:rPr>
              <a:t>ISRO   •   Software   •   Miscellaneous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55A3D11-4985-462C-8D3C-2F319CED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9817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17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16171"/>
                </a:solidFill>
                <a:latin typeface="Arial"/>
                <a:ea typeface="Arial"/>
                <a:cs typeface="Arial"/>
              </a:rPr>
              <a:t>Concept illustration</a:t>
            </a:r>
          </a:p>
        </p:txBody>
      </p:sp>
    </p:spTree>
    <p:extLst>
      <p:ext uri="{BB962C8B-B14F-4D97-AF65-F5344CB8AC3E}">
        <p14:creationId xmlns:p14="http://schemas.microsoft.com/office/powerpoint/2010/main" val="12834446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Google Shape;99;p14">
            <a:extLst xmlns:a="http://schemas.openxmlformats.org/drawingml/2006/main">
              <a:ext uri="{FF2B5EF4-FFF2-40B4-BE49-F238E27FC236}">
                <a16:creationId xmlns:a16="http://schemas.microsoft.com/office/drawing/2014/main" id="{746B1A49-6871-465B-9286-FA01F03E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noFill/>
          </a:ln>
          <a:effectLst xmlns:a="http://schemas.openxmlformats.org/drawingml/2006/main"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39" name="Google Shape;104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4fbd094c8e34dfc">
            <a:alphaModFix/>
          </a:blip>
          <a:srcRect xmlns:a="http://schemas.openxmlformats.org/drawingml/2006/main" l="9212" t="14430" r="7717" b="15488"/>
          <a:stretch xmlns:a="http://schemas.openxmlformats.org/drawingml/2006/main"/>
        </p:blipFill>
        <p:spPr>
          <a:xfrm xmlns:a="http://schemas.openxmlformats.org/drawingml/2006/main">
            <a:off x="464750" y="298625"/>
            <a:ext cx="2040401" cy="870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0" name="Google Shape;105;p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f7ea9e7dde47d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77525" y="298623"/>
            <a:ext cx="1167750" cy="1025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8BF6CE1-E3AF-4297-854F-8580CBA1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3375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IDEA TITLE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EC41313-E14E-4733-A32B-5442CF63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770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NavDR  /  PS 26168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5C9F72C-84D2-42B4-8C3E-53FFE790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A842F70-AB34-4AF5-B33F-060F1DEB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858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8C8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C82"/>
                </a:solidFill>
                <a:latin typeface="Arial"/>
                <a:ea typeface="Arial"/>
                <a:cs typeface="Arial"/>
              </a:rPr>
              <a:t>Motion continuity when GNSS becomes unreliable</a:t>
            </a:r>
          </a:p>
        </p:txBody>
      </p:sp>
      <p:pic>
        <p:nvPicPr>
          <p:cNvPr id="1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9cca43e3634f02"/>
          <a:stretch xmlns:a="http://schemas.openxmlformats.org/drawingml/2006/main"/>
        </p:blipFill>
        <p:spPr>
          <a:xfrm xmlns:a="http://schemas.openxmlformats.org/drawingml/2006/main">
            <a:off x="1202531" y="2047875"/>
            <a:ext cx="5357813" cy="3571875"/>
          </a:xfrm>
          <a:prstGeom xmlns:a="http://schemas.openxmlformats.org/drawingml/2006/main" prst="rect">
            <a:avLst/>
          </a:prstGeom>
        </p:spPr>
      </p:pic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83B4A1F-30D9-417A-94E2-D48311FA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6BC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6BCB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4C4082F-90AE-48B4-B86E-F482C455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3667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GNSS loses coverage.</a:t>
            </a:r>
          </a:p>
          <a:p xmlns:a="http://schemas.openxmlformats.org/drawingml/2006/main">
            <a:pPr>
              <a:defRPr sz="20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IMU bias builds position error.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5208B89-2978-466B-913D-4CC0554A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67125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8C8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C82"/>
                </a:solidFill>
                <a:latin typeface="Arial"/>
                <a:ea typeface="Arial"/>
                <a:cs typeface="Arial"/>
              </a:rPr>
              <a:t>THE RESPONSE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79842C1A-21EF-4AD6-86EC-4F748F39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48125"/>
            <a:ext cx="3714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Combine phone motion sensors,</a:t>
            </a:r>
          </a:p>
          <a:p xmlns:a="http://schemas.openxmlformats.org/drawingml/2006/main">
            <a:pPr>
              <a:defRPr sz="19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velocity estimates and road</a:t>
            </a:r>
          </a:p>
          <a:p xmlns:a="http://schemas.openxmlformats.org/drawingml/2006/main">
            <a:pPr>
              <a:defRPr sz="19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constraints to bridge outages.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4BF52FD-5B29-41F6-920B-5953B183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673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6BC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6BCB"/>
                </a:solidFill>
                <a:latin typeface="Arial"/>
                <a:ea typeface="Arial"/>
                <a:cs typeface="Arial"/>
              </a:rPr>
              <a:t>GNSS available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A5706E3-687A-47CA-B9E5-41E55B59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673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8C8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C82"/>
                </a:solidFill>
                <a:latin typeface="Arial"/>
                <a:ea typeface="Arial"/>
                <a:cs typeface="Arial"/>
              </a:rPr>
              <a:t>Dead reckoning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CD1159D-AD32-488D-B1C3-536307F3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66737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6BC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6BCB"/>
                </a:solidFill>
                <a:latin typeface="Arial"/>
                <a:ea typeface="Arial"/>
                <a:cs typeface="Arial"/>
              </a:rPr>
              <a:t>Recovery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0D72D70-DD92-4C64-953C-ACF710F6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483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Validation target: peak outage error below 10% of outage distance</a:t>
            </a:r>
          </a:p>
        </p:txBody>
      </p:sp>
    </p:spTree>
    <p:extLst>
      <p:ext uri="{BB962C8B-B14F-4D97-AF65-F5344CB8AC3E}">
        <p14:creationId xmlns:p14="http://schemas.microsoft.com/office/powerpoint/2010/main" val="233188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1" name="Google Shape;111;p15">
            <a:extLst xmlns:a="http://schemas.openxmlformats.org/drawingml/2006/main">
              <a:ext uri="{FF2B5EF4-FFF2-40B4-BE49-F238E27FC236}">
                <a16:creationId xmlns:a16="http://schemas.microsoft.com/office/drawing/2014/main" id="{CC8497D2-5326-4C53-AB7B-9CE5E441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noFill/>
          </a:ln>
          <a:effectLst xmlns:a="http://schemas.openxmlformats.org/drawingml/2006/main"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Google Shape;116;p15">
            <a:extLst xmlns:a="http://schemas.openxmlformats.org/drawingml/2006/main">
              <a:ext uri="{FF2B5EF4-FFF2-40B4-BE49-F238E27FC236}">
                <a16:creationId xmlns:a16="http://schemas.microsoft.com/office/drawing/2014/main" id="{B8491D88-8075-45EB-9406-407D1790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2000" cy="50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noFill/>
          </a:ln>
          <a:effectLst xmlns:a="http://schemas.openxmlformats.org/drawingml/2006/main">
            <a:outerShdw dist="23000" dir="5400000" rotWithShape="0">
              <a:srgbClr val="808080">
                <a:alpha val="349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63" name="Google Shape;118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644ee10d5054bc0">
            <a:alphaModFix/>
          </a:blip>
          <a:srcRect xmlns:a="http://schemas.openxmlformats.org/drawingml/2006/main" l="9212" t="14430" r="7717" b="15488"/>
          <a:stretch xmlns:a="http://schemas.openxmlformats.org/drawingml/2006/main"/>
        </p:blipFill>
        <p:spPr>
          <a:xfrm xmlns:a="http://schemas.openxmlformats.org/drawingml/2006/main">
            <a:off x="464750" y="298625"/>
            <a:ext cx="2040401" cy="870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4" name="Google Shape;119;p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c4a4bad2f49f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77525" y="298623"/>
            <a:ext cx="1167750" cy="1025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196B7C4-834C-4ACF-930E-C9A908CF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3375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C1DAA5C2-3BA8-48BC-AA64-202E827F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770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NavDR  /  PS 26168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BA615B6-60F0-445D-9CAF-B8230694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1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f570b609c4487"/>
          <a:stretch xmlns:a="http://schemas.openxmlformats.org/drawingml/2006/main"/>
        </p:blipFill>
        <p:spPr>
          <a:xfrm xmlns:a="http://schemas.openxmlformats.org/drawingml/2006/main">
            <a:off x="1094730" y="1381125"/>
            <a:ext cx="3620791" cy="4524375"/>
          </a:xfrm>
          <a:prstGeom xmlns:a="http://schemas.openxmlformats.org/drawingml/2006/main" prst="rect">
            <a:avLst/>
          </a:prstGeom>
        </p:spPr>
      </p:pic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284156DF-3002-4578-AE1C-BB3BD68E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763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C8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8C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4D7A5DA9-DB17-4481-A341-1EA0C0D6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4780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Phone IMU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754F5B0A-71CB-44C1-96D5-38A25E5D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161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171"/>
                </a:solidFill>
                <a:latin typeface="Arial"/>
                <a:ea typeface="Arial"/>
                <a:cs typeface="Arial"/>
              </a:rPr>
              <a:t>Acceleration and rotation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6A9C3BAA-D18B-40F6-BA9B-82C5B190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145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C8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8C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120C042F-E301-42B2-9515-E17B7165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8600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Frame alignment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1DC07C6-5BE8-4CC0-8D0F-5A9A2EEF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161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171"/>
                </a:solidFill>
                <a:latin typeface="Arial"/>
                <a:ea typeface="Arial"/>
                <a:cs typeface="Arial"/>
              </a:rPr>
              <a:t>Fixed mounting configuration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8F4211B-3121-4BC7-BC82-CF0AD76D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527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C8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8C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CF2C804C-1437-4C03-9332-BAA0D98A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2420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TCN velocity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9D63709-7F13-4BF9-9BC4-86205D70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86150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161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171"/>
                </a:solidFill>
                <a:latin typeface="Arial"/>
                <a:ea typeface="Arial"/>
                <a:cs typeface="Arial"/>
              </a:rPr>
              <a:t>49,665 parameters; untrained demo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5D9FC5EF-3BFB-430D-88F8-144B2FE8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909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C8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8C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D258B86-DAA5-4B51-9E20-3B8C7B57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Planar EKF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722F727F-AD51-48C2-A43E-6E3F9B0D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24350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161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171"/>
                </a:solidFill>
                <a:latin typeface="Arial"/>
                <a:ea typeface="Arial"/>
                <a:cs typeface="Arial"/>
              </a:rPr>
              <a:t>State estimation and GNSS gating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39DCC747-27CB-4728-97CB-4E2CE0DB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291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C8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8C8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FF7826F0-2985-4FDC-9C60-7CCFE0E3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0060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Road HMM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2D39005C-EAC5-4E74-9170-4F98D2BA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62550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161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171"/>
                </a:solidFill>
                <a:latin typeface="Arial"/>
                <a:ea typeface="Arial"/>
                <a:cs typeface="Arial"/>
              </a:rPr>
              <a:t>Road-constrained position output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B8AFC4DB-4C36-49BB-99E1-15374645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8C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8C82"/>
                </a:solidFill>
                <a:latin typeface="Arial"/>
                <a:ea typeface="Arial"/>
                <a:cs typeface="Arial"/>
              </a:rPr>
              <a:t>Current: 100 Hz simulated IMU and replay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A06FC601-266D-42F3-A0AE-89C1378F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905500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61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171"/>
                </a:solidFill>
                <a:latin typeface="Arial"/>
                <a:ea typeface="Arial"/>
                <a:cs typeface="Arial"/>
              </a:rPr>
              <a:t>Next: trained weights and device validation</a:t>
            </a:r>
          </a:p>
        </p:txBody>
      </p:sp>
    </p:spTree>
    <p:extLst>
      <p:ext uri="{BB962C8B-B14F-4D97-AF65-F5344CB8AC3E}">
        <p14:creationId xmlns:p14="http://schemas.microsoft.com/office/powerpoint/2010/main" val="18824651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Google Shape;125;p16">
            <a:extLst xmlns:a="http://schemas.openxmlformats.org/drawingml/2006/main">
              <a:ext uri="{FF2B5EF4-FFF2-40B4-BE49-F238E27FC236}">
                <a16:creationId xmlns:a16="http://schemas.microsoft.com/office/drawing/2014/main" id="{B61698FB-4D08-4136-A5D1-A8AFB75B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noFill/>
          </a:ln>
          <a:effectLst xmlns:a="http://schemas.openxmlformats.org/drawingml/2006/main"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 b="0" i="0" u="none" cap="none">
              <a:solidFill>
                <a:srgbClr val="9537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0" name="Google Shape;130;p16">
            <a:extLst xmlns:a="http://schemas.openxmlformats.org/drawingml/2006/main">
              <a:ext uri="{FF2B5EF4-FFF2-40B4-BE49-F238E27FC236}">
                <a16:creationId xmlns:a16="http://schemas.microsoft.com/office/drawing/2014/main" id="{B5292D17-B813-4CE6-ACBC-2663F074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2000" cy="50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noFill/>
          </a:ln>
          <a:effectLst xmlns:a="http://schemas.openxmlformats.org/drawingml/2006/main">
            <a:outerShdw dist="23000" dir="5400000" rotWithShape="0">
              <a:srgbClr val="808080">
                <a:alpha val="349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64" name="Google Shape;132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1c72eb093054d28">
            <a:alphaModFix/>
          </a:blip>
          <a:srcRect xmlns:a="http://schemas.openxmlformats.org/drawingml/2006/main" l="9212" t="14430" r="7717" b="15488"/>
          <a:stretch xmlns:a="http://schemas.openxmlformats.org/drawingml/2006/main"/>
        </p:blipFill>
        <p:spPr>
          <a:xfrm xmlns:a="http://schemas.openxmlformats.org/drawingml/2006/main">
            <a:off x="464750" y="298625"/>
            <a:ext cx="2040401" cy="870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5" name="Google Shape;133;p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daecd0646948c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77525" y="298623"/>
            <a:ext cx="1167750" cy="1025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A29551AC-F022-4453-B128-64146D90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3375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C6A7277D-468D-40F3-ADC3-528F7F70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770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NavDR  /  PS 26168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65A7A494-7E54-4D37-B093-CE8897CB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1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298fda31c4f02"/>
          <a:stretch xmlns:a="http://schemas.openxmlformats.org/drawingml/2006/main"/>
        </p:blipFill>
        <p:spPr>
          <a:xfrm xmlns:a="http://schemas.openxmlformats.org/drawingml/2006/main">
            <a:off x="609036" y="1809750"/>
            <a:ext cx="3163428" cy="3952875"/>
          </a:xfrm>
          <a:prstGeom xmlns:a="http://schemas.openxmlformats.org/drawingml/2006/main" prst="rect">
            <a:avLst/>
          </a:prstGeom>
        </p:spPr>
      </p:pic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B9BD56BF-814C-427F-B6C0-A50D2836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335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8C8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C82"/>
                </a:solidFill>
                <a:latin typeface="Arial"/>
                <a:ea typeface="Arial"/>
                <a:cs typeface="Arial"/>
              </a:rPr>
              <a:t>Prototype to field validation</a:t>
            </a:r>
          </a:p>
        </p:txBody>
      </p:sp>
      <p:graphicFrame>
        <p:nvGraphicFramePr>
          <p:cNvPr id="171" name=""/>
          <p:cNvGraphicFramePr/>
          <p:nvPr/>
        </p:nvGraphicFramePr>
        <p:xfrm>
          <a:off xmlns:a="http://schemas.openxmlformats.org/drawingml/2006/main" x="4429125" y="2190750"/>
          <a:ext xmlns:a="http://schemas.openxmlformats.org/drawingml/2006/main" cx="7096125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3857625"/>
              </a:tblGrid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</a:t>
                      </a:r>
                    </a:p>
                  </a:txBody>
                  <a:tcPr marL="91440" marR="91440" marT="45720" marB="4572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Response</a:t>
                      </a:r>
                    </a:p>
                  </a:txBody>
                  <a:tcPr marL="91440" marR="91440" marT="45720" marB="45720">
                    <a:solidFill>
                      <a:srgbClr val="17365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65D"/>
                          </a:solidFill>
                          <a:latin typeface="Arial"/>
                          <a:ea typeface="Arial"/>
                          <a:cs typeface="Arial"/>
                        </a:rPr>
                        <a:t>Mounting changes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65D"/>
                          </a:solidFill>
                          <a:latin typeface="Arial"/>
                          <a:ea typeface="Arial"/>
                          <a:cs typeface="Arial"/>
                        </a:rPr>
                        <a:t>Detect and realign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65D"/>
                          </a:solidFill>
                          <a:latin typeface="Arial"/>
                          <a:ea typeface="Arial"/>
                          <a:cs typeface="Arial"/>
                        </a:rPr>
                        <a:t>GNSS multipath spike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65D"/>
                          </a:solidFill>
                          <a:latin typeface="Arial"/>
                          <a:ea typeface="Arial"/>
                          <a:cs typeface="Arial"/>
                        </a:rPr>
                        <a:t>Gate inconsistent fixes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65D"/>
                          </a:solidFill>
                          <a:latin typeface="Arial"/>
                          <a:ea typeface="Arial"/>
                          <a:cs typeface="Arial"/>
                        </a:rPr>
                        <a:t>Late IMU samples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65D"/>
                          </a:solidFill>
                          <a:latin typeface="Arial"/>
                          <a:ea typeface="Arial"/>
                          <a:cs typeface="Arial"/>
                        </a:rPr>
                        <a:t>Flag timestamp gaps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65D"/>
                          </a:solidFill>
                          <a:latin typeface="Arial"/>
                          <a:ea typeface="Arial"/>
                          <a:cs typeface="Arial"/>
                        </a:rPr>
                        <a:t>Unfamiliar routes / phones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65D"/>
                          </a:solidFill>
                          <a:latin typeface="Arial"/>
                          <a:ea typeface="Arial"/>
                          <a:cs typeface="Arial"/>
                        </a:rPr>
                        <a:t>Evaluate held-out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61E10E0-F9C6-4CD5-AE61-4CAFA153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17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171"/>
                </a:solidFill>
                <a:latin typeface="Arial"/>
                <a:ea typeface="Arial"/>
                <a:cs typeface="Arial"/>
              </a:rPr>
              <a:t>Upper stages planned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8155CC8B-FDE2-49E6-B1F4-89DDAD1E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286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8C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8C82"/>
                </a:solidFill>
                <a:latin typeface="Arial"/>
                <a:ea typeface="Arial"/>
                <a:cs typeface="Arial"/>
              </a:rPr>
              <a:t>Working now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8C81F230-447B-4F83-B79E-9E5FD14F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667375"/>
            <a:ext cx="709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Console, sensor simulation, EKF, road matching and replay</a:t>
            </a:r>
          </a:p>
        </p:txBody>
      </p:sp>
    </p:spTree>
    <p:extLst>
      <p:ext uri="{BB962C8B-B14F-4D97-AF65-F5344CB8AC3E}">
        <p14:creationId xmlns:p14="http://schemas.microsoft.com/office/powerpoint/2010/main" val="10083672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Google Shape;139;p17">
            <a:extLst xmlns:a="http://schemas.openxmlformats.org/drawingml/2006/main">
              <a:ext uri="{FF2B5EF4-FFF2-40B4-BE49-F238E27FC236}">
                <a16:creationId xmlns:a16="http://schemas.microsoft.com/office/drawing/2014/main" id="{F1F97272-D33D-4EC8-A5E2-8D1C288E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noFill/>
          </a:ln>
          <a:effectLst xmlns:a="http://schemas.openxmlformats.org/drawingml/2006/main"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 b="0" i="0" u="none" cap="none">
              <a:solidFill>
                <a:srgbClr val="9537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4" name="Google Shape;144;p17">
            <a:extLst xmlns:a="http://schemas.openxmlformats.org/drawingml/2006/main">
              <a:ext uri="{FF2B5EF4-FFF2-40B4-BE49-F238E27FC236}">
                <a16:creationId xmlns:a16="http://schemas.microsoft.com/office/drawing/2014/main" id="{D84D1255-EDE1-4880-B70E-705F44D0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2000" cy="50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noFill/>
          </a:ln>
          <a:effectLst xmlns:a="http://schemas.openxmlformats.org/drawingml/2006/main">
            <a:outerShdw dist="23000" dir="5400000" rotWithShape="0">
              <a:srgbClr val="808080">
                <a:alpha val="349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77" name="Google Shape;146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16818dd829a488e">
            <a:alphaModFix/>
          </a:blip>
          <a:srcRect xmlns:a="http://schemas.openxmlformats.org/drawingml/2006/main" l="9212" t="14430" r="7717" b="15488"/>
          <a:stretch xmlns:a="http://schemas.openxmlformats.org/drawingml/2006/main"/>
        </p:blipFill>
        <p:spPr>
          <a:xfrm xmlns:a="http://schemas.openxmlformats.org/drawingml/2006/main">
            <a:off x="464750" y="298625"/>
            <a:ext cx="2040401" cy="870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8" name="Google Shape;147;p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54b52eb7bd4df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77525" y="298623"/>
            <a:ext cx="1167750" cy="1025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24EB936B-1F7A-4E1D-BFFC-2CAB9742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3375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2278D3FC-2DB7-4C53-919F-E9DAF473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770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NavDR  /  PS 26168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E5E42B21-5237-4029-96E1-3C6F14D7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87B64BC5-4522-4B91-ACB4-D0E38146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335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8C8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C82"/>
                </a:solidFill>
                <a:latin typeface="Arial"/>
                <a:ea typeface="Arial"/>
                <a:cs typeface="Arial"/>
              </a:rPr>
              <a:t>Navigation continuity using an existing phone</a:t>
            </a:r>
          </a:p>
        </p:txBody>
      </p:sp>
      <p:pic>
        <p:nvPicPr>
          <p:cNvPr id="1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9baf38a8014eea"/>
          <a:stretch xmlns:a="http://schemas.openxmlformats.org/drawingml/2006/main"/>
        </p:blipFill>
        <p:spPr>
          <a:xfrm xmlns:a="http://schemas.openxmlformats.org/drawingml/2006/main">
            <a:off x="5369719" y="2000250"/>
            <a:ext cx="5786438" cy="3857625"/>
          </a:xfrm>
          <a:prstGeom xmlns:a="http://schemas.openxmlformats.org/drawingml/2006/main" prst="rect">
            <a:avLst/>
          </a:prstGeom>
        </p:spPr>
      </p:pic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F233BF07-C3EE-4DD1-8C44-A5FB7F18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Drivers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7F2D6848-3635-4D5A-B9F9-555BB864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43175"/>
            <a:ext cx="400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1617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171"/>
                </a:solidFill>
                <a:latin typeface="Arial"/>
                <a:ea typeface="Arial"/>
                <a:cs typeface="Arial"/>
              </a:rPr>
              <a:t>Position awareness through</a:t>
            </a:r>
          </a:p>
          <a:p xmlns:a="http://schemas.openxmlformats.org/drawingml/2006/main">
            <a:pPr>
              <a:defRPr sz="1875" b="0">
                <a:solidFill>
                  <a:srgbClr val="51617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171"/>
                </a:solidFill>
                <a:latin typeface="Arial"/>
                <a:ea typeface="Arial"/>
                <a:cs typeface="Arial"/>
              </a:rPr>
              <a:t>short GNSS outages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C6E4353F-5F96-4EB1-BC7C-B415B285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Fleets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503E3DD3-26B8-4D7B-A035-D8B693E8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33800"/>
            <a:ext cx="400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1617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171"/>
                </a:solidFill>
                <a:latin typeface="Arial"/>
                <a:ea typeface="Arial"/>
                <a:cs typeface="Arial"/>
              </a:rPr>
              <a:t>Route continuity through</a:t>
            </a:r>
          </a:p>
          <a:p xmlns:a="http://schemas.openxmlformats.org/drawingml/2006/main">
            <a:pPr>
              <a:defRPr sz="1875" b="0">
                <a:solidFill>
                  <a:srgbClr val="51617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171"/>
                </a:solidFill>
                <a:latin typeface="Arial"/>
                <a:ea typeface="Arial"/>
                <a:cs typeface="Arial"/>
              </a:rPr>
              <a:t>tunnels and dense streets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6C18AD19-E162-4E16-BEEB-8ED44164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24375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Deployment goal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B2D80957-D113-4128-8A6A-5A4750DE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24425"/>
            <a:ext cx="400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1617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171"/>
                </a:solidFill>
                <a:latin typeface="Arial"/>
                <a:ea typeface="Arial"/>
                <a:cs typeface="Arial"/>
              </a:rPr>
              <a:t>No dedicated vehicle</a:t>
            </a:r>
          </a:p>
          <a:p xmlns:a="http://schemas.openxmlformats.org/drawingml/2006/main">
            <a:pPr>
              <a:defRPr sz="1875" b="0">
                <a:solidFill>
                  <a:srgbClr val="51617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171"/>
                </a:solidFill>
                <a:latin typeface="Arial"/>
                <a:ea typeface="Arial"/>
                <a:cs typeface="Arial"/>
              </a:rPr>
              <a:t>sensor hardware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041834BC-E1BB-4AFD-9144-8D4FE41B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Measure error, recovery time, latency and phone energy use</a:t>
            </a:r>
          </a:p>
        </p:txBody>
      </p:sp>
    </p:spTree>
    <p:extLst>
      <p:ext uri="{BB962C8B-B14F-4D97-AF65-F5344CB8AC3E}">
        <p14:creationId xmlns:p14="http://schemas.microsoft.com/office/powerpoint/2010/main" val="142191108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" name="Google Shape;153;p18">
            <a:extLst xmlns:a="http://schemas.openxmlformats.org/drawingml/2006/main">
              <a:ext uri="{FF2B5EF4-FFF2-40B4-BE49-F238E27FC236}">
                <a16:creationId xmlns:a16="http://schemas.microsoft.com/office/drawing/2014/main" id="{C5D0FF32-D1E9-4783-8097-A3ECAB02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noFill/>
          </a:ln>
          <a:effectLst xmlns:a="http://schemas.openxmlformats.org/drawingml/2006/main"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 b="0" i="0" u="none" cap="none">
              <a:solidFill>
                <a:srgbClr val="9537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8" name="Google Shape;158;p18">
            <a:extLst xmlns:a="http://schemas.openxmlformats.org/drawingml/2006/main">
              <a:ext uri="{FF2B5EF4-FFF2-40B4-BE49-F238E27FC236}">
                <a16:creationId xmlns:a16="http://schemas.microsoft.com/office/drawing/2014/main" id="{B1B9BCDF-C8DC-403E-B08D-39B6D462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2000" cy="50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noFill/>
          </a:ln>
          <a:effectLst xmlns:a="http://schemas.openxmlformats.org/drawingml/2006/main">
            <a:outerShdw dist="23000" dir="5400000" rotWithShape="0">
              <a:srgbClr val="808080">
                <a:alpha val="349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88" name="Google Shape;160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45e9f77be9a4a3b">
            <a:alphaModFix/>
          </a:blip>
          <a:srcRect xmlns:a="http://schemas.openxmlformats.org/drawingml/2006/main" l="9212" t="14430" r="7717" b="15488"/>
          <a:stretch xmlns:a="http://schemas.openxmlformats.org/drawingml/2006/main"/>
        </p:blipFill>
        <p:spPr>
          <a:xfrm xmlns:a="http://schemas.openxmlformats.org/drawingml/2006/main">
            <a:off x="464750" y="298625"/>
            <a:ext cx="2040401" cy="870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89" name="Google Shape;161;p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5a8fe47a7f408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77525" y="298623"/>
            <a:ext cx="1167750" cy="1025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3E060259-F7ED-487F-9F81-4C516DB4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3375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RESEARCH AND REFERENCES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07D981AC-87A1-4FF3-8547-620EF7F8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770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NavDR  /  PS 26168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D9004BDA-947D-456E-A9C7-1457344E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pic>
        <p:nvPicPr>
          <p:cNvPr id="1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6006dc0c7f479d"/>
          <a:stretch xmlns:a="http://schemas.openxmlformats.org/drawingml/2006/main"/>
        </p:blipFill>
        <p:spPr>
          <a:xfrm xmlns:a="http://schemas.openxmlformats.org/drawingml/2006/main">
            <a:off x="8334375" y="1524000"/>
            <a:ext cx="3095625" cy="3095625"/>
          </a:xfrm>
          <a:prstGeom xmlns:a="http://schemas.openxmlformats.org/drawingml/2006/main" prst="rect">
            <a:avLst/>
          </a:prstGeom>
        </p:spPr>
      </p:pic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295F91EB-0D2A-43D0-B17A-2273C95A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478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65D"/>
                </a:solidFill>
                <a:latin typeface="Arial"/>
                <a:ea typeface="Arial"/>
                <a:cs typeface="Arial"/>
                <a:hlinkClick xmlns:r="http://schemas.openxmlformats.org/officeDocument/2006/relationships" r:id="R8596f59a89694e28"/>
              </a:rPr>
              <a:t>IO-VNBD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94B6F2D9-8638-4F00-86ED-155FD372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43075"/>
            <a:ext cx="714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1617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1"/>
                </a:solidFill>
                <a:latin typeface="Arial"/>
                <a:ea typeface="Arial"/>
                <a:cs typeface="Arial"/>
              </a:rPr>
              <a:t>Vehicle and smartphone motion data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BC9BF9B3-B2B6-4657-ABA2-0C9230C6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05025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65D"/>
                </a:solidFill>
                <a:latin typeface="Arial"/>
                <a:ea typeface="Arial"/>
                <a:cs typeface="Arial"/>
                <a:hlinkClick xmlns:r="http://schemas.openxmlformats.org/officeDocument/2006/relationships" r:id="Rfbeda5dc51a44921"/>
              </a:rPr>
              <a:t>AI-IMU Dead-Reckoning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1032DAB2-1C78-4493-A9FC-4E7E3C6A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0300"/>
            <a:ext cx="714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1617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1"/>
                </a:solidFill>
                <a:latin typeface="Arial"/>
                <a:ea typeface="Arial"/>
                <a:cs typeface="Arial"/>
              </a:rPr>
              <a:t>Learning-assisted inertial estimation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8E702AA9-53A3-4F6A-8C38-43E1454C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65D"/>
                </a:solidFill>
                <a:latin typeface="Arial"/>
                <a:ea typeface="Arial"/>
                <a:cs typeface="Arial"/>
                <a:hlinkClick xmlns:r="http://schemas.openxmlformats.org/officeDocument/2006/relationships" r:id="R0b3a731f916d4cf8"/>
              </a:rPr>
              <a:t>Temporal Convolutional Networks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7F19A2E8-2BC6-43C0-8255-CF45266B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57525"/>
            <a:ext cx="714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1617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1"/>
                </a:solidFill>
                <a:latin typeface="Arial"/>
                <a:ea typeface="Arial"/>
                <a:cs typeface="Arial"/>
              </a:rPr>
              <a:t>Causal sequence modelling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8895FCEE-31E0-4CA9-AF1F-79AA9209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19475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65D"/>
                </a:solidFill>
                <a:latin typeface="Arial"/>
                <a:ea typeface="Arial"/>
                <a:cs typeface="Arial"/>
                <a:hlinkClick xmlns:r="http://schemas.openxmlformats.org/officeDocument/2006/relationships" r:id="R07c9912051404769"/>
              </a:rPr>
              <a:t>Valhalla Meili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258D51A0-CF72-4EC0-80AB-681A2118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14750"/>
            <a:ext cx="714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1617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1"/>
                </a:solidFill>
                <a:latin typeface="Arial"/>
                <a:ea typeface="Arial"/>
                <a:cs typeface="Arial"/>
              </a:rPr>
              <a:t>HMM map matching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A6B24A83-83D5-42AE-AC81-C708A63B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767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65D"/>
                </a:solidFill>
                <a:latin typeface="Arial"/>
                <a:ea typeface="Arial"/>
                <a:cs typeface="Arial"/>
                <a:hlinkClick xmlns:r="http://schemas.openxmlformats.org/officeDocument/2006/relationships" r:id="Rff67347069ba4b4f"/>
              </a:rPr>
              <a:t>Android GnssStatus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6D56E59F-DDA9-4039-99C4-3D1B20DF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71975"/>
            <a:ext cx="714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1617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1"/>
                </a:solidFill>
                <a:latin typeface="Arial"/>
                <a:ea typeface="Arial"/>
                <a:cs typeface="Arial"/>
              </a:rPr>
              <a:t>Satellite signal observations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9D3D5D70-A9DC-4483-90A1-FE942058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006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161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171"/>
                </a:solidFill>
                <a:latin typeface="Arial"/>
                <a:ea typeface="Arial"/>
                <a:cs typeface="Arial"/>
              </a:rPr>
              <a:t>Synthetic prototype. TCN untrained. Field validation pending.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EB109D0F-6038-41F2-87BE-BC811291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6BC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6BCB"/>
                </a:solidFill>
                <a:latin typeface="Arial"/>
                <a:ea typeface="Arial"/>
                <a:cs typeface="Arial"/>
                <a:hlinkClick xmlns:r="http://schemas.openxmlformats.org/officeDocument/2006/relationships" r:id="R37d8fbbfd50b477f"/>
              </a:rPr>
              <a:t>YouTube Demo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45A5A96C-7576-48BF-8597-E551ADC9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6197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6BC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6BCB"/>
                </a:solidFill>
                <a:latin typeface="Arial"/>
                <a:ea typeface="Arial"/>
                <a:cs typeface="Arial"/>
                <a:hlinkClick xmlns:r="http://schemas.openxmlformats.org/officeDocument/2006/relationships" r:id="Racd007b68bd34c33"/>
              </a:rPr>
              <a:t>GitHub Repository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FC5D84C8-94B1-4A7D-9698-E89A3E49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293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17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171"/>
                </a:solidFill>
                <a:latin typeface="Arial"/>
                <a:ea typeface="Arial"/>
                <a:cs typeface="Arial"/>
              </a:rPr>
              <a:t>youtu.be/GoU52CqyaNI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B8F36EA2-79D5-46FB-B549-CD041763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6029325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17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171"/>
                </a:solidFill>
                <a:latin typeface="Arial"/>
                <a:ea typeface="Arial"/>
                <a:cs typeface="Arial"/>
              </a:rPr>
              <a:t>github.com/Sudhanshu-01-ui/gps</a:t>
            </a:r>
          </a:p>
        </p:txBody>
      </p:sp>
    </p:spTree>
    <p:extLst>
      <p:ext uri="{BB962C8B-B14F-4D97-AF65-F5344CB8AC3E}">
        <p14:creationId xmlns:p14="http://schemas.microsoft.com/office/powerpoint/2010/main" val="203286454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2026-09-07T04:32:49.0260000Z</dcterms:created>
  <dcterms:modified xsi:type="dcterms:W3CDTF">2026-09-07T04:32:49.0260000Z</dcterms:modified>
</coreProperties>
</file>